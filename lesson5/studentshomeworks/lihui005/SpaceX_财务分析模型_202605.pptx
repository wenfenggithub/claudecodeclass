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SpaceX 财务分析模型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B0C8"/>
                </a:solidFill>
                <a:latin typeface="Microsoft YaHei"/>
              </a:defRPr>
            </a:pPr>
            <a:r>
              <a:t>基于S-1 IPO招股书数据 — 2026年5月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90A8"/>
                </a:solidFill>
                <a:latin typeface="Microsoft YaHei"/>
              </a:defRPr>
            </a:pPr>
            <a:r>
              <a:t>分业务财务数据 · 星链用户与ARPU · 发射频次与成本 · 竞争对比</a:t>
            </a:r>
            <a:br/>
            <a:r>
              <a:t>政府合同储备 · 估值情景 · IPO详情 · TAM市场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Microsoft YaHei"/>
              </a:defRPr>
            </a:pPr>
            <a:r>
              <a:t>数据来源：SpaceX S-1 IPO招股书（2026年5月）、公司财报、行业研究报告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088"/>
                </a:solidFill>
                <a:latin typeface="Microsoft YaHei"/>
              </a:defRPr>
            </a:pPr>
            <a:r>
              <a:t>NASDAQ: SPCX | 目标估值 $1.75–2.0万亿 | 预计上市日 2026年6月12日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2179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9B"/>
                </a:solidFill>
                <a:latin typeface="Microsoft YaHei"/>
              </a:defRPr>
            </a:pPr>
            <a:r>
              <a:t>机密 · 仅供研究参考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内容目录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3A"/>
                </a:solidFill>
                <a:latin typeface="Microsoft YaHei"/>
              </a:defRPr>
            </a:pPr>
            <a:r>
              <a:t>分业务财务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27631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星链、发射服务、xAI三大板块收入与利润分析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1280160"/>
            <a:ext cx="457200" cy="457200"/>
          </a:xfrm>
          <a:prstGeom prst="ellipse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29844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3A"/>
                </a:solidFill>
                <a:latin typeface="Microsoft YaHei"/>
              </a:defRPr>
            </a:pPr>
            <a:r>
              <a:t>星链用户与ARPU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627631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用户增长趋势、单位经济、ARPU变化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7860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3A"/>
                </a:solidFill>
                <a:latin typeface="Microsoft YaHei"/>
              </a:defRPr>
            </a:pPr>
            <a:r>
              <a:t>发射频次与成本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07791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猎鹰系列发射历史、回收记录、成本下降曲线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2560320"/>
            <a:ext cx="457200" cy="457200"/>
          </a:xfrm>
          <a:prstGeom prst="ellipse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57860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3A"/>
                </a:solidFill>
                <a:latin typeface="Microsoft YaHei"/>
              </a:defRPr>
            </a:pPr>
            <a:r>
              <a:t>竞争对比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907791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SpaceX vs 蓝色起源 vs 火箭实验室 vs ULA vs 波音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840479"/>
            <a:ext cx="457200" cy="457200"/>
          </a:xfrm>
          <a:prstGeom prst="ellipse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58767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3A"/>
                </a:solidFill>
                <a:latin typeface="Microsoft YaHei"/>
              </a:defRPr>
            </a:pPr>
            <a:r>
              <a:t>政府合同储备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187951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NSSL、NASA、SDA、商业发射合同对比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3840479"/>
            <a:ext cx="457200" cy="457200"/>
          </a:xfrm>
          <a:prstGeom prst="ellipse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858767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3A"/>
                </a:solidFill>
                <a:latin typeface="Microsoft YaHei"/>
              </a:defRPr>
            </a:pPr>
            <a:r>
              <a:t>估值情景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187951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牛市/基础/熊市/Damodaran DCF 估值情景分析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138927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3A"/>
                </a:solidFill>
                <a:latin typeface="Microsoft YaHei"/>
              </a:defRPr>
            </a:pPr>
            <a:r>
              <a:t>IPO详情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46811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IPO关键参数、估值背景、募集资金用途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5120640"/>
            <a:ext cx="457200" cy="457200"/>
          </a:xfrm>
          <a:prstGeom prst="ellipse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5138927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3A"/>
                </a:solidFill>
                <a:latin typeface="Microsoft YaHei"/>
              </a:defRPr>
            </a:pPr>
            <a:r>
              <a:t>TAM市场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46811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可寻址市场总量：发射/宽带/国防/轨道AI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9B"/>
                </a:solidFill>
                <a:latin typeface="Microsoft YaHei"/>
              </a:defRPr>
            </a:pPr>
            <a:r>
              <a:t>SpaceX S-1 IPO招股书（2026年5月）| 财务数据为FY2024–FY2025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分业务财务数据（FY2024–FY2025）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011680" cy="10058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6072" y="1161288"/>
            <a:ext cx="1956816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CFF"/>
                </a:solidFill>
                <a:latin typeface="Microsoft YaHei"/>
              </a:defRPr>
            </a:pPr>
            <a:r>
              <a:t>$186.7亿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FY2025 合并营收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同比 +29%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143000"/>
            <a:ext cx="2011680" cy="10058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62072" y="1161288"/>
            <a:ext cx="1956816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2801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CFF"/>
                </a:solidFill>
                <a:latin typeface="Microsoft YaHei"/>
              </a:defRPr>
            </a:pPr>
            <a:r>
              <a:t>61%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6459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星链营收占比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874519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$113.9亿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143000"/>
            <a:ext cx="2011680" cy="10058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48072" y="1161288"/>
            <a:ext cx="1956816" cy="36576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12801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3E3E"/>
                </a:solidFill>
                <a:latin typeface="Microsoft YaHei"/>
              </a:defRPr>
            </a:pPr>
            <a:r>
              <a:t>($49.4亿)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16459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FY2025 净亏损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1874519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含xAI亏损$63.6亿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143000"/>
            <a:ext cx="2011680" cy="10058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34071" y="1161288"/>
            <a:ext cx="1956816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12801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Microsoft YaHei"/>
              </a:defRPr>
            </a:pPr>
            <a:r>
              <a:t>63%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16459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星链EBITDA利润率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1874519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唯一盈利板块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1143000"/>
            <a:ext cx="2011680" cy="10058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20072" y="1161288"/>
            <a:ext cx="1956816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12801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Microsoft YaHei"/>
              </a:defRPr>
            </a:pPr>
            <a:r>
              <a:t>$127亿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16459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xAI资本支出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1874519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AI基础设施投资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48640" y="2377440"/>
          <a:ext cx="11887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280160"/>
                <a:gridCol w="1280160"/>
                <a:gridCol w="1005840"/>
                <a:gridCol w="1645920"/>
                <a:gridCol w="1463040"/>
                <a:gridCol w="301752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业务板块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FY2024营收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(亿美元)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FY2025营收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(亿美元)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同比增速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运营利润/(亏损)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FY2025(亿美元)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EBITDA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FY2025(亿美元)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备注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星链（连接业务）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76.0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113.9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+50%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44.2 盈利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71.7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EBITDA利润率63%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发射服务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38.0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40.9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+7.6%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(6.6) 亏损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含星舰R&amp;D $30亿/年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xAI（人工智能）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不可比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(63.6) 亏损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2026年2月并入，Capex $127亿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合并总计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114.0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186.7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+29%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(25.9) 亏损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~15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净亏损($49.4亿)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9B"/>
                </a:solidFill>
                <a:latin typeface="Microsoft YaHei"/>
              </a:defRPr>
            </a:pPr>
            <a:r>
              <a:t>注：FY2024为近似值（公司当时为私有）。xAI于2026年2月并入SpaceX。所有数据来源于S-1招股书。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星链 — 用户增长与单位经济（2023–2026E）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1828800" cy="10058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6072" y="1161288"/>
            <a:ext cx="1773936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CFF"/>
                </a:solidFill>
                <a:latin typeface="Microsoft YaHei"/>
              </a:defRPr>
            </a:pPr>
            <a:r>
              <a:t>890万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2025用户数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Q1 2026: 1,030万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143000"/>
            <a:ext cx="1828800" cy="10058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79191" y="1161288"/>
            <a:ext cx="1773936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280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CFF"/>
                </a:solidFill>
                <a:latin typeface="Microsoft YaHei"/>
              </a:defRPr>
            </a:pPr>
            <a:r>
              <a:t>$113.9亿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6459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2025营收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874519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同比 +50%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143000"/>
            <a:ext cx="1828800" cy="10058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82312" y="1161288"/>
            <a:ext cx="1773936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280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Microsoft YaHei"/>
              </a:defRPr>
            </a:pPr>
            <a:r>
              <a:t>$71.7亿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6459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2025 EBITDA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1874519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利润率 63%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143000"/>
            <a:ext cx="1828800" cy="10058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85432" y="1161288"/>
            <a:ext cx="1773936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1280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Microsoft YaHei"/>
              </a:defRPr>
            </a:pPr>
            <a:r>
              <a:t>$66/月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16459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Q1 2026 ARPU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1874519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策略性下降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1143000"/>
            <a:ext cx="1828800" cy="10058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161288"/>
            <a:ext cx="1773936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1280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CFF"/>
                </a:solidFill>
                <a:latin typeface="Microsoft YaHei"/>
              </a:defRPr>
            </a:pPr>
            <a:r>
              <a:t>$187–200亿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16459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2026E 营收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1874519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用户1,680-2,500万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48640" y="237744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1645920"/>
                <a:gridCol w="1645920"/>
                <a:gridCol w="210312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Q1 2026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2026E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用户数（百万）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1,680–2,500万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营收（亿美元）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51.0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76.0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113.9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32.6（单季）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187–200亿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运营利润（亿美元）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44.2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11.9（单季）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EBITDA（亿美元）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25.0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38.6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71.7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~140亿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EBITDA利润率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月均ARPU（美元）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$99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$91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$81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$66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策略性下降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48640" y="438912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关键洞察：星链ARPU从2023年$99降至Q1 2026 $66（-33%），反映"价格换规模"策略——低ARPU发展中市场（非洲、东南亚、印度）用户占比提升。营收增长由用户数驱动（CAGR 57%），单位经济仍健康（EBITDA利润率从49%升至63%，规模效应显著）。Kuiper入市或进一步压缩ARPU。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9B"/>
                </a:solidFill>
                <a:latin typeface="Microsoft YaHei"/>
              </a:defRPr>
            </a:pPr>
            <a:r>
              <a:t>数据来源：SpaceX S-1招股书；Quilty Space星链财务概览2026；Morningstar。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猎鹰系列 — 发射频次与成本下降曲线（2020–2025）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1828800" cy="10058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6072" y="1161288"/>
            <a:ext cx="1773936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CFF"/>
                </a:solidFill>
                <a:latin typeface="Microsoft YaHei"/>
              </a:defRPr>
            </a:pPr>
            <a:r>
              <a:t>165次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2025发射次数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全球 &gt;80% 份额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143000"/>
            <a:ext cx="1828800" cy="10058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79191" y="1161288"/>
            <a:ext cx="1773936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280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Microsoft YaHei"/>
              </a:defRPr>
            </a:pPr>
            <a:r>
              <a:t>571次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6459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累计着陆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874519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最高单箭复用33次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143000"/>
            <a:ext cx="1828800" cy="10058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82312" y="1161288"/>
            <a:ext cx="1773936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280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Microsoft YaHei"/>
              </a:defRPr>
            </a:pPr>
            <a:r>
              <a:t>$629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6459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内部成本/kg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1874519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2020年$1,200 → -48%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143000"/>
            <a:ext cx="1828800" cy="10058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85432" y="1161288"/>
            <a:ext cx="1773936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1280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CFF"/>
                </a:solidFill>
                <a:latin typeface="Microsoft YaHei"/>
              </a:defRPr>
            </a:pPr>
            <a:r>
              <a:t>$2,720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16459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客户价格/kg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1874519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2020年$4,400 → -38%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1143000"/>
            <a:ext cx="1828800" cy="10058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161288"/>
            <a:ext cx="1773936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1280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Microsoft YaHei"/>
              </a:defRPr>
            </a:pPr>
            <a:r>
              <a:t>~-12%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16459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成本下降CAGR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1874519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2020–2025内部成本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48640" y="237744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463040"/>
                <a:gridCol w="1463040"/>
                <a:gridCol w="1645920"/>
                <a:gridCol w="1645920"/>
                <a:gridCol w="146304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Falcon发射次数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累计着陆次数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成本/kg LEO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内部($)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成本/kg LEO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客户($)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最大复用次数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市场份额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$4,400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~100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$1,000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$3,800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~45%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~220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$750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$2,900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~65%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$2,750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165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571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$629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$2,720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&gt;80%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48640" y="438912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关键洞察：5年内发射频次增长6.3×（26→165），复用次数增长6.6×（5→33）。内部成本下降48%，客户价格下降38%。2022年起市场份额突破50%，2025年已超80%——复用飞轮效应加速推进，竞争壁垒持续扩大。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9B"/>
                </a:solidFill>
                <a:latin typeface="Microsoft YaHei"/>
              </a:defRPr>
            </a:pPr>
            <a:r>
              <a:t>数据来源：SpaceX S-1；NextBigFuture；IndexBox；维基百科。内部成本为行业估算值。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航天发射领域竞争对比（2025年数据）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9786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2011680"/>
                <a:gridCol w="2011680"/>
                <a:gridCol w="164592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SpaceX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蓝色起源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火箭实验室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(RKLB)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ULA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波音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(航天)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营收（航天,亿美元）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$186.7亿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&lt;$5亿（估）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$6.018亿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$10–20亿（估）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~$40亿（估）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2025发射次数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165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助推器最大复用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33次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1次（2025.11）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0（部分回收）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0（一次性）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单次发射价格($M)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$70M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$60–70M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$8.5M（电子号）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$100–200M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垂直整合度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85–90%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中等（并购扩张）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低（仅组装）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消费宽带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星链1,030万用户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累计着陆次数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部分溅落回收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下一代火箭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星舰（试飞中）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新格伦（运营）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中子（2026Q4）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无计划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SLS（成本加成）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31920"/>
            <a:ext cx="1097280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竞争格局要点：</a:t>
            </a:r>
            <a:br/>
            <a:r>
              <a:t>• SpaceX在发射频次（165 vs 次名火箭实验室21）和复用技术（33× vs 最高1×）上领先10×+</a:t>
            </a:r>
            <a:br/>
            <a:r>
              <a:t>• 垂直整合度85-90%使得SpaceX成本结构远优于依赖供应商的ULA和波音</a:t>
            </a:r>
            <a:br/>
            <a:r>
              <a:t>• 星链1,030万用户——竞争对手均无消费宽带业务，创造发射→宽带正反馈循环</a:t>
            </a:r>
            <a:br/>
            <a:r>
              <a:t>• 关键威胁：蓝色起源新格伦+贝索斯无限资金；火箭实验室中子号2026Q4首发；中国国有竞争者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9B"/>
                </a:solidFill>
                <a:latin typeface="Microsoft YaHei"/>
              </a:defRPr>
            </a:pPr>
            <a:r>
              <a:t>数据来源：公司财报；SEC EDGAR；SpaceX S-1；火箭实验室Q1 2026财报；行业估算。波音航天为BDS中估算占比&lt;15%。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政府及商业发射合同储备对比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2618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560320"/>
                <a:gridCol w="228600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合同项目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SpaceX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蓝色起源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火箭实验室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ULA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NSSL Phase 3（太空军）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28次任务 / $59亿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7次任务 / $23亿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19次任务 / $53亿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NASA（阿尔忒弥斯/HLS等）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$30亿+（HLS月球着陆器）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$34亿（蓝月着陆器）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SDA（太空发展局）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多个合同（卫星平台）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$8.16亿（Tranche III）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商业发射（Kuiper等）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星链自用165次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Kuiper部分发射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70+次电子号订单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47次Kuiper发射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载人航天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商业载人（NASA $50亿+）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00400"/>
            <a:ext cx="10972800" cy="2743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核心发现：</a:t>
            </a:r>
            <a:br/>
            <a:r>
              <a:t>• NSSL Phase 3是国家安全发射的基石——SpaceX获28次任务（$59亿），ULA 19次（$53亿），蓝色起源7次（$23亿）</a:t>
            </a:r>
            <a:br/>
            <a:r>
              <a:t>• SpaceX唯一同时拥有NSSL、NASA载人航天、SDA卫星平台三大政府合同的公司</a:t>
            </a:r>
            <a:br/>
            <a:r>
              <a:t>• NASA HLS（载人着陆系统）：SpaceX $30亿+ vs 蓝色起源蓝月 $34亿——双供应商策略下SpaceX技术成熟度更高</a:t>
            </a:r>
            <a:br/>
            <a:r>
              <a:t>• 商业发射：SpaceX暂未披露外部商业发射储备（主要为自用星链），Amazon Kuiper为竞争对手主要商业客户</a:t>
            </a:r>
            <a:br/>
            <a:r>
              <a:t>• 关键风险：政府预算周期（CR/拨款延迟）、政治领导层更换、DOGE对NASA预算的潜在影响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9B"/>
                </a:solidFill>
                <a:latin typeface="Microsoft YaHei"/>
              </a:defRPr>
            </a:pPr>
            <a:r>
              <a:t>数据来源：美国太空军NSSL Phase 3合同（2025年4月/9月）；NASA HLS；SDA；各公司新闻稿。合同金额为总合同额，非年化。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估值情景分析（2028E）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3474720" cy="14630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6072" y="1161288"/>
            <a:ext cx="3419856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Microsoft YaHei"/>
              </a:defRPr>
            </a:pPr>
            <a:r>
              <a:t>$2.5–3.0万亿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▲ 牛市（概率30%）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星舰完全复用成功 | 4,000万用户 | 轨道AI变现</a:t>
            </a:r>
            <a:br/>
            <a:r>
              <a:t>EV/EBITDA ~83× | 星链EBITDA $300亿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43000"/>
            <a:ext cx="3474720" cy="14630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1161288"/>
            <a:ext cx="3419856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2801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CFF"/>
                </a:solidFill>
                <a:latin typeface="Microsoft YaHei"/>
              </a:defRPr>
            </a:pPr>
            <a:r>
              <a:t>$1.5–2.0万亿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► 基础（概率50%）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874519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星舰部分复用 | 2,500万用户 | Kuiper入市</a:t>
            </a:r>
            <a:br/>
            <a:r>
              <a:t>EV/EBITDA ~97× | 星链EBITDA $180亿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143000"/>
            <a:ext cx="3474720" cy="14630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57031" y="1161288"/>
            <a:ext cx="3419856" cy="36576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2801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3E3E"/>
                </a:solidFill>
                <a:latin typeface="Microsoft YaHei"/>
              </a:defRPr>
            </a:pPr>
            <a:r>
              <a:t>$5,000–8,000亿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6459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▼ 熊市（概率20%）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874519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星舰推迟 | 1,500万用户 | Anthropic取消合同</a:t>
            </a:r>
            <a:br/>
            <a:r>
              <a:t>EV/EBITDA ~50× | 星链EBITDA $100亿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2926080"/>
          <a:ext cx="11887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31520"/>
                <a:gridCol w="1371600"/>
                <a:gridCol w="1371600"/>
                <a:gridCol w="1371600"/>
                <a:gridCol w="1097280"/>
                <a:gridCol w="448056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情景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概率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星链用户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2028E(百万)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星链EBITDA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2028E(亿美元)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隐含估值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(万亿美元)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EV/EBITDA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关键假设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▲ 牛市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4,000万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$2.5–3.0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~83×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星舰完全复用成功；40M+用户；轨道AI变现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► 基础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2,500万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$180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$1.5–2.0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~97×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星舰部分复用；Kuiper竞争；xAI亏损收窄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▼ 熊市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1,500万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$0.5–0.8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~50×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星舰推迟；ARPU持续下降；Anthropic取消合同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Damodaran DCF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2,000万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$150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$1.22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~81×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学术估值基准；较IPO目标低~30%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IPO目标（中点）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2,500万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~97×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S-1披露估值区间中点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47548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Microsoft YaHei"/>
              </a:defRPr>
            </a:pPr>
            <a:r>
              <a:t>概率加权预期估值：$1.68万亿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计算：30%×2.75 + 50%×1.75 + 20%×0.65 = 1.68万亿 | Damodaran DCF: $1.22万亿（较目标低~30%）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9B"/>
                </a:solidFill>
                <a:latin typeface="Microsoft YaHei"/>
              </a:defRPr>
            </a:pPr>
            <a:r>
              <a:t>说明：所有情景均为说明性分析，基于S-1文件及行业研究中公开可获取的信息。不构成投资建议。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SpaceX IPO — 关键参数与估值背景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5720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备注/对比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预计上市日期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2026年6月12日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窗口可能因市场条件调整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交易所 / 代码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NASDAQ: SPCX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双类股权结构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目标估值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$1.75–2.0万亿美元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史上最大IPO（当前记录：沙特阿美$256亿）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目标融资规模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~$750亿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含一级发行+二级出售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2025年营收对应P/S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~94–107×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SaaS行业中位数约8–10×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马斯克投票权（IPO后）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85.1%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B类股 10票/股 vs A类股 1票/股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2025年营收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$186.7亿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星链61% + 发射22% + xAI 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2025年净亏损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($49.4亿)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含xAI $63.6亿运营亏损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2025年资本支出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$207.4亿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含xAI $127亿基础设施投资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累计亏损（成立至今）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$413.1亿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主要来自星舰研发和xAI投资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1188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Microsoft YaHei"/>
              </a:defRPr>
            </a:pPr>
            <a:r>
              <a:t>募集资金用途（据S-1招股书）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6459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▸ 星舰基础设施与制造规模化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965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▸ 星链V3卫星生产与星座扩展（30,000+颗）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2860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▸ xAI / Colossus超级计算机扩展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606039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▸ 一般企业用途（营运资金、潜在收购）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9260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▸ 现有股东流动性（部分二次发行）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1155680" cy="10972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Microsoft YaHei"/>
              </a:defRPr>
            </a:pPr>
            <a:r>
              <a:t>⚠ 治理警示：马斯克IPO后持有85.1%投票权（B类股 10票/股），A类股东实质上无投票权。同时运营Tesla、xAI、Twitter/X、DOGE等多实体——关键人集中风险在$1.75万亿估值级别史无前例。IPO招股书未详细披露董事会独立性和关联交易防火墙机制。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9B"/>
                </a:solidFill>
                <a:latin typeface="Microsoft YaHei"/>
              </a:defRPr>
            </a:pPr>
            <a:r>
              <a:t>数据来源：SpaceX S-1 IPO招股书（2026年5月）；Reuters；PitchBook；Morningstar。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可寻址市场总量（TAM）— 航天经济各板块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286000" cy="10058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6072" y="1161288"/>
            <a:ext cx="2231136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CFF"/>
                </a:solidFill>
                <a:latin typeface="Microsoft YaHei"/>
              </a:defRPr>
            </a:pPr>
            <a:r>
              <a:t>$1,600亿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当前TAM合计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发射+宽带+国防+AI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143000"/>
            <a:ext cx="2286000" cy="10058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36391" y="1161288"/>
            <a:ext cx="2231136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2801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CFF"/>
                </a:solidFill>
                <a:latin typeface="Microsoft YaHei"/>
              </a:defRPr>
            </a:pPr>
            <a:r>
              <a:t>$200亿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6459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发射服务当前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874519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CAGR 9% → 2030E ~$280亿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1143000"/>
            <a:ext cx="2286000" cy="10058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96712" y="1161288"/>
            <a:ext cx="2231136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12801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Microsoft YaHei"/>
              </a:defRPr>
            </a:pPr>
            <a:r>
              <a:t>$400亿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6459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卫星宽带当前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874519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CAGR 22% → 2030E ~$880亿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143000"/>
            <a:ext cx="2286000" cy="10058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57031" y="1161288"/>
            <a:ext cx="2231136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2801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Microsoft YaHei"/>
              </a:defRPr>
            </a:pPr>
            <a:r>
              <a:t>$500亿+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6459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B"/>
                </a:solidFill>
                <a:latin typeface="Microsoft YaHei"/>
              </a:defRPr>
            </a:pPr>
            <a:r>
              <a:t>轨道AI新兴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1874519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CAGR 35% → 2030E ~$1,660亿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237744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097280"/>
                <a:gridCol w="1463040"/>
                <a:gridCol w="2286000"/>
                <a:gridCol w="32004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市场板块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当前规模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(亿美元)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增速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(CAGR)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2030E规模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(亿美元)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SpaceX定位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竞争优势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发射服务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主导（&gt;80%份额）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可重复使用、成本优势、发射频次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卫星宽带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$400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~$880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先发领导者（星链）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用户规模、在轨卫星数、品牌认知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政府/国防航天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低成本在位者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NSSL合同、安全许可、可靠性纪录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轨道AI与数据服务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$500+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~$1,660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xAI押注（新兴）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星舰运力、垂直整合、资本获取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合计/交叉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~$3,600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多板块整合运营商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全栈控制 = 利润获取最大化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48640" y="420624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市场结构洞察：</a:t>
            </a:r>
            <a:br/>
            <a:r>
              <a:t>• 卫星宽带是增速最快的成熟板块（CAGR 22%），星链已占据绝对先发优势</a:t>
            </a:r>
            <a:br/>
            <a:r>
              <a:t>• 轨道AI与数据服务是最大增量市场——2030E $1,660亿超过发射+宽带之和，SpaceX通过xAI直接押注</a:t>
            </a:r>
            <a:br/>
            <a:r>
              <a:t>• 政府/国防航天是稳态收入基石（CAGR 12%），合同黏性高、利润率稳定</a:t>
            </a:r>
            <a:br/>
            <a:r>
              <a:t>• SpaceX的全栈整合使其能在4个板块同时获利——竞争对手通常只覆盖1-2个板块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9B"/>
                </a:solidFill>
                <a:latin typeface="Microsoft YaHei"/>
              </a:defRPr>
            </a:pPr>
            <a:r>
              <a:t>数据来源：SpaceX S-1；Quilty Space；McKinsey航天产业报告；Morgan Stanley航天经济估算；SDA。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核心要点总结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188720"/>
            <a:ext cx="365760" cy="365760"/>
          </a:xfrm>
          <a:prstGeom prst="ellipse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Microsoft YaHei"/>
              </a:defRPr>
            </a:pPr>
            <a:r>
              <a:t>营收结构转型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星链已超越发射服务成为最大收入来源（$113.9亿 vs $40.9亿），占比61%。xAI并入后将进一步改变收入结构，但也带来$63.6亿运营亏损。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48840"/>
            <a:ext cx="365760" cy="365760"/>
          </a:xfrm>
          <a:prstGeom prst="ellipse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Microsoft YaHei"/>
              </a:defRPr>
            </a:pPr>
            <a:r>
              <a:t>复用飞轮加速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猎鹰系列5年内发射频次增长6.3×，成本下降48%。2025年全球发射份额&gt;80%，竞争壁垒持续扩大。星舰V3若成功将成本再降10×。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089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Microsoft YaHei"/>
              </a:defRPr>
            </a:pPr>
            <a:r>
              <a:t>星链单位经济改善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2900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尽管ARPU从$99降至$66（策略性），EBITDA利润率从49%升至63%，规模效应显著。2026E目标1,680-2,500万用户。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069080"/>
            <a:ext cx="365760" cy="365760"/>
          </a:xfrm>
          <a:prstGeom prst="ellipse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69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Microsoft YaHei"/>
              </a:defRPr>
            </a:pPr>
            <a:r>
              <a:t>估值是核心矛盾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$1.75万亿（94× P/S）vs Damodaran DCF $1.22万亿（低30%）。概率加权预期$1.68万亿。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029200"/>
            <a:ext cx="365760" cy="365760"/>
          </a:xfrm>
          <a:prstGeom prst="ellipse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292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Microsoft YaHei"/>
              </a:defRPr>
            </a:pPr>
            <a:r>
              <a:t>关键风险不可忽视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4924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85.1%马斯克投票权、xAI年亏损$63.6亿且Anthropic合同可取消、星舰技术风险、Kuiper竞争。治理结构是$1.75万亿估值级别史无前例的集中风险。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9B"/>
                </a:solidFill>
                <a:latin typeface="Microsoft YaHei"/>
              </a:defRPr>
            </a:pPr>
            <a:r>
              <a:t>免责声明：本演示文稿仅供研究参考，不构成投资建议。所有数据源自SpaceX S-1招股书（2026年5月）及公开行业报告。预测性信息存在不确定性，实际结果可能存在重大差异。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