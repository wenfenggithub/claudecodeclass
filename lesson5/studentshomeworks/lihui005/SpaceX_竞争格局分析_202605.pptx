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近地轨道每公斤发射成本（客户价格，美元）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近地轨道发射价格 ($/kg)</c:v>
                </c:pt>
              </c:strCache>
            </c:strRef>
          </c:tx>
          <c:spPr>
            <a:solidFill>
              <a:srgbClr val="007ACC"/>
            </a:solidFill>
          </c:spPr>
          <c:cat>
            <c:strRef>
              <c:f>Sheet1!$A$2:$A$7</c:f>
              <c:strCache>
                <c:ptCount val="6"/>
                <c:pt idx="0">
                  <c:v>猎鹰9
(SpaceX)</c:v>
                </c:pt>
                <c:pt idx="1">
                  <c:v>猎鹰重型
(SpaceX)</c:v>
                </c:pt>
                <c:pt idx="2">
                  <c:v>新格伦
(蓝色起源)</c:v>
                </c:pt>
                <c:pt idx="3">
                  <c:v>Vulcan
(ULA)</c:v>
                </c:pt>
                <c:pt idx="4">
                  <c:v>电子号
(火箭实验室)</c:v>
                </c:pt>
                <c:pt idx="5">
                  <c:v>Ariane 6
(Arianespace)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2720</c:v>
                </c:pt>
                <c:pt idx="1">
                  <c:v>2355</c:v>
                </c:pt>
                <c:pt idx="2">
                  <c:v>1555</c:v>
                </c:pt>
                <c:pt idx="3">
                  <c:v>9461</c:v>
                </c:pt>
                <c:pt idx="4">
                  <c:v>25556</c:v>
                </c:pt>
                <c:pt idx="5">
                  <c:v>10600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SpaceX</c:v>
                </c:pt>
              </c:strCache>
            </c:strRef>
          </c:tx>
          <c:spPr>
            <a:solidFill>
              <a:srgbClr val="007ACC"/>
            </a:solidFill>
            <a:ln w="19050">
              <a:solidFill>
                <a:srgbClr val="007ACC"/>
              </a:solidFill>
            </a:ln>
          </c:spPr>
          <c:cat>
            <c:strRef>
              <c:f>Sheet1!$A$2:$A$7</c:f>
              <c:strCache>
                <c:ptCount val="6"/>
                <c:pt idx="0">
                  <c:v>可复用性</c:v>
                </c:pt>
                <c:pt idx="1">
                  <c:v>发射
节奏</c:v>
                </c:pt>
                <c:pt idx="2">
                  <c:v>成本
竞争力</c:v>
                </c:pt>
                <c:pt idx="3">
                  <c:v>政府
足迹</c:v>
                </c:pt>
                <c:pt idx="4">
                  <c:v>技术
护城河</c:v>
                </c:pt>
                <c:pt idx="5">
                  <c:v>垂直
整合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9</c:v>
                </c:pt>
                <c:pt idx="4">
                  <c:v>10</c:v>
                </c:pt>
                <c:pt idx="5">
                  <c:v>10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蓝色起源</c:v>
                </c:pt>
              </c:strCache>
            </c:strRef>
          </c:tx>
          <c:spPr>
            <a:solidFill>
              <a:srgbClr val="E86A17"/>
            </a:solidFill>
            <a:ln w="19050">
              <a:solidFill>
                <a:srgbClr val="E86A17"/>
              </a:solidFill>
            </a:ln>
          </c:spPr>
          <c:cat>
            <c:strRef>
              <c:f>Sheet1!$A$2:$A$7</c:f>
              <c:strCache>
                <c:ptCount val="6"/>
                <c:pt idx="0">
                  <c:v>可复用性</c:v>
                </c:pt>
                <c:pt idx="1">
                  <c:v>发射
节奏</c:v>
                </c:pt>
                <c:pt idx="2">
                  <c:v>成本
竞争力</c:v>
                </c:pt>
                <c:pt idx="3">
                  <c:v>政府
足迹</c:v>
                </c:pt>
                <c:pt idx="4">
                  <c:v>技术
护城河</c:v>
                </c:pt>
                <c:pt idx="5">
                  <c:v>垂直
整合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</c:v>
                </c:pt>
                <c:pt idx="1">
                  <c:v>2</c:v>
                </c:pt>
                <c:pt idx="2">
                  <c:v>6</c:v>
                </c:pt>
                <c:pt idx="3">
                  <c:v>5</c:v>
                </c:pt>
                <c:pt idx="4">
                  <c:v>6</c:v>
                </c:pt>
                <c:pt idx="5">
                  <c:v>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火箭实验室</c:v>
                </c:pt>
              </c:strCache>
            </c:strRef>
          </c:tx>
          <c:spPr>
            <a:solidFill>
              <a:srgbClr val="2ECC71"/>
            </a:solidFill>
            <a:ln w="19050">
              <a:solidFill>
                <a:srgbClr val="2ECC71"/>
              </a:solidFill>
            </a:ln>
          </c:spPr>
          <c:cat>
            <c:strRef>
              <c:f>Sheet1!$A$2:$A$7</c:f>
              <c:strCache>
                <c:ptCount val="6"/>
                <c:pt idx="0">
                  <c:v>可复用性</c:v>
                </c:pt>
                <c:pt idx="1">
                  <c:v>发射
节奏</c:v>
                </c:pt>
                <c:pt idx="2">
                  <c:v>成本
竞争力</c:v>
                </c:pt>
                <c:pt idx="3">
                  <c:v>政府
足迹</c:v>
                </c:pt>
                <c:pt idx="4">
                  <c:v>技术
护城河</c:v>
                </c:pt>
                <c:pt idx="5">
                  <c:v>垂直
整合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4</c:v>
                </c:pt>
                <c:pt idx="1">
                  <c:v>5</c:v>
                </c:pt>
                <c:pt idx="2">
                  <c:v>7</c:v>
                </c:pt>
                <c:pt idx="3">
                  <c:v>4</c:v>
                </c:pt>
                <c:pt idx="4">
                  <c:v>7</c:v>
                </c:pt>
                <c:pt idx="5">
                  <c:v>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波音</c:v>
                </c:pt>
              </c:strCache>
            </c:strRef>
          </c:tx>
          <c:spPr>
            <a:solidFill>
              <a:srgbClr val="95A5A6"/>
            </a:solidFill>
            <a:ln w="19050">
              <a:solidFill>
                <a:srgbClr val="95A5A6"/>
              </a:solidFill>
            </a:ln>
          </c:spPr>
          <c:cat>
            <c:strRef>
              <c:f>Sheet1!$A$2:$A$7</c:f>
              <c:strCache>
                <c:ptCount val="6"/>
                <c:pt idx="0">
                  <c:v>可复用性</c:v>
                </c:pt>
                <c:pt idx="1">
                  <c:v>发射
节奏</c:v>
                </c:pt>
                <c:pt idx="2">
                  <c:v>成本
竞争力</c:v>
                </c:pt>
                <c:pt idx="3">
                  <c:v>政府
足迹</c:v>
                </c:pt>
                <c:pt idx="4">
                  <c:v>技术
护城河</c:v>
                </c:pt>
                <c:pt idx="5">
                  <c:v>垂直
整合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8</c:v>
                </c:pt>
                <c:pt idx="4">
                  <c:v>4</c:v>
                </c:pt>
                <c:pt idx="5">
                  <c:v>7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ULA</c:v>
                </c:pt>
              </c:strCache>
            </c:strRef>
          </c:tx>
          <c:spPr>
            <a:solidFill>
              <a:srgbClr val="8E44AD"/>
            </a:solidFill>
            <a:ln w="19050">
              <a:solidFill>
                <a:srgbClr val="8E44AD"/>
              </a:solidFill>
            </a:ln>
          </c:spPr>
          <c:cat>
            <c:strRef>
              <c:f>Sheet1!$A$2:$A$7</c:f>
              <c:strCache>
                <c:ptCount val="6"/>
                <c:pt idx="0">
                  <c:v>可复用性</c:v>
                </c:pt>
                <c:pt idx="1">
                  <c:v>发射
节奏</c:v>
                </c:pt>
                <c:pt idx="2">
                  <c:v>成本
竞争力</c:v>
                </c:pt>
                <c:pt idx="3">
                  <c:v>政府
足迹</c:v>
                </c:pt>
                <c:pt idx="4">
                  <c:v>技术
护城河</c:v>
                </c:pt>
                <c:pt idx="5">
                  <c:v>垂直
整合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0</c:v>
                </c:pt>
                <c:pt idx="1">
                  <c:v>2</c:v>
                </c:pt>
                <c:pt idx="2">
                  <c:v>3</c:v>
                </c:pt>
                <c:pt idx="3">
                  <c:v>6</c:v>
                </c:pt>
                <c:pt idx="4">
                  <c:v>3</c:v>
                </c:pt>
                <c:pt idx="5">
                  <c:v>2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crossAx val="2073612648"/>
        <c:crosses val="autoZero"/>
        <c:crossBetween val="between"/>
      </c:valAx>
    </c:plotArea>
    <c:legend>
      <c:legendPos val="tr"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1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0" b="1">
                <a:solidFill>
                  <a:srgbClr val="FFFFFF"/>
                </a:solidFill>
                <a:latin typeface="Microsoft YaHei"/>
              </a:defRPr>
            </a:pPr>
            <a:r>
              <a:t>SPACEX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0">
                <a:solidFill>
                  <a:srgbClr val="007ACC"/>
                </a:solidFill>
                <a:latin typeface="Microsoft YaHei"/>
              </a:defRPr>
            </a:pPr>
            <a:r>
              <a:t>竞争格局分析报告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566160"/>
            <a:ext cx="3200400" cy="254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84048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99AABB"/>
                </a:solidFill>
                <a:latin typeface="Microsoft YaHei"/>
              </a:defRPr>
            </a:pPr>
            <a:r>
              <a:t>非公开航空航天与国防 — 发射服务、星链、可复用性及护城河评估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0292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888888"/>
                </a:solidFill>
                <a:latin typeface="Microsoft YaHei"/>
              </a:defRPr>
            </a:pPr>
            <a:r>
              <a:t>2026年5月  |  机密  |  投资研究用途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5669280"/>
            <a:ext cx="2286000" cy="4114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571500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688AA"/>
                </a:solidFill>
                <a:latin typeface="Microsoft YaHei"/>
              </a:defRPr>
            </a:pPr>
            <a:r>
              <a:t>vs 蓝色起源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39" y="5669280"/>
            <a:ext cx="2286000" cy="4114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79" y="571500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688AA"/>
                </a:solidFill>
                <a:latin typeface="Microsoft YaHei"/>
              </a:defRPr>
            </a:pPr>
            <a:r>
              <a:t>vs 火箭实验室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5669280"/>
            <a:ext cx="2286000" cy="4114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571500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688AA"/>
                </a:solidFill>
                <a:latin typeface="Microsoft YaHei"/>
              </a:defRPr>
            </a:pPr>
            <a:r>
              <a:t>vs 波音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52559" y="5669280"/>
            <a:ext cx="2286000" cy="4114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3999" y="5715000"/>
            <a:ext cx="2103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688AA"/>
                </a:solidFill>
                <a:latin typeface="Microsoft YaHei"/>
              </a:defRPr>
            </a:pPr>
            <a:r>
              <a:t>vs ULA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执行摘要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AABBDD"/>
                </a:solidFill>
                <a:latin typeface="Microsoft YaHei"/>
              </a:defRPr>
            </a:pPr>
            <a:r>
              <a:t>SpaceX是一家垂直整合的航空航天领导者，拥有无可匹敌的可复用性护城河和星链现金引擎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103120" cy="914400"/>
          </a:xfrm>
          <a:prstGeom prst="rect">
            <a:avLst/>
          </a:prstGeom>
          <a:solidFill>
            <a:srgbClr val="1B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2025年营收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$186.7亿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2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ABBDD"/>
                </a:solidFill>
                <a:latin typeface="Microsoft YaHei"/>
              </a:defRPr>
            </a:pPr>
            <a:r>
              <a:t>发射$40.9亿 + 星链$113.9亿 + xAI $32亿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188720"/>
            <a:ext cx="2103120" cy="914400"/>
          </a:xfrm>
          <a:prstGeom prst="rect">
            <a:avLst/>
          </a:prstGeom>
          <a:solidFill>
            <a:srgbClr val="1B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28016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星链用户数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150876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1,030万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187452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ABBDD"/>
                </a:solidFill>
                <a:latin typeface="Microsoft YaHei"/>
              </a:defRPr>
            </a:pPr>
            <a:r>
              <a:t>164个国家，63% EBITDA利润率，$71.7亿EBITDA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1188720"/>
            <a:ext cx="2103120" cy="914400"/>
          </a:xfrm>
          <a:prstGeom prst="rect">
            <a:avLst/>
          </a:prstGeom>
          <a:solidFill>
            <a:srgbClr val="1B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60" y="128016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发射市场份额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150876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&gt;80%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187452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ABBDD"/>
                </a:solidFill>
                <a:latin typeface="Microsoft YaHei"/>
              </a:defRPr>
            </a:pPr>
            <a:r>
              <a:t>2025年165次轨道发射，~70%为星链自部署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1188720"/>
            <a:ext cx="2103120" cy="914400"/>
          </a:xfrm>
          <a:prstGeom prst="rect">
            <a:avLst/>
          </a:prstGeom>
          <a:solidFill>
            <a:srgbClr val="1B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128016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星舰累计研发投入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150876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&gt;$150亿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187452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ABBDD"/>
                </a:solidFill>
                <a:latin typeface="Microsoft YaHei"/>
              </a:defRPr>
            </a:pPr>
            <a:r>
              <a:t>累计；$30亿/年支出；V3首飞2026年5月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1188720"/>
            <a:ext cx="2103120" cy="914400"/>
          </a:xfrm>
          <a:prstGeom prst="rect">
            <a:avLst/>
          </a:prstGeom>
          <a:solidFill>
            <a:srgbClr val="1B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38360" y="128016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DDEE"/>
                </a:solidFill>
                <a:latin typeface="Microsoft YaHei"/>
              </a:defRPr>
            </a:pPr>
            <a:r>
              <a:t>IPO估值目标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150876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$1.75–2.0万亿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60" y="187452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AABBDD"/>
                </a:solidFill>
                <a:latin typeface="Microsoft YaHei"/>
              </a:defRPr>
            </a:pPr>
            <a:r>
              <a:t>2026年6月上市(SPCX)；对应2025年P/S ~94×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2377440"/>
            <a:ext cx="10515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B2A47"/>
                </a:solidFill>
                <a:latin typeface="Microsoft YaHei"/>
              </a:defRPr>
            </a:pPr>
            <a:r>
              <a:t>1. 可复用性是决定性护城河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265176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猎鹰9助推器复用33+次，翻新成本约$100万/次。近地轨道内部成本约$629–$1,400/kg——比任何竞争对手便宜5–10倍。无对手展示可比的规模化复用能力。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429000"/>
            <a:ext cx="10515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B2A47"/>
                </a:solidFill>
                <a:latin typeface="Microsoft YaHei"/>
              </a:defRPr>
            </a:pPr>
            <a:r>
              <a:t>2. 星链为一切提供资金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70332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星链是唯一盈利的业务板块：2025年营收$113.9亿，63% EBITDA利润率，产生约$71.7亿EBITDA。星链交叉补贴星舰研发（$30亿/年）和xAI现金消耗（2025年亏损$63.6亿）。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480560"/>
            <a:ext cx="10515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B2A47"/>
                </a:solidFill>
                <a:latin typeface="Microsoft YaHei"/>
              </a:defRPr>
            </a:pPr>
            <a:r>
              <a:t>3. 竞争对手落后数年 — 但窗口正在收窄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75488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蓝色起源18个月内发射了3枚新格伦火箭。火箭实验室中子号2026年Q4首飞。ULA仍为一次性使用。波音星际线是负债。无对手能匹配SpaceX整合发射+卫星运营+消费宽带的模式。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532120"/>
            <a:ext cx="10515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B2A47"/>
                </a:solidFill>
                <a:latin typeface="Microsoft YaHei"/>
              </a:defRPr>
            </a:pPr>
            <a:r>
              <a:t>4. IPO逻辑取决于星舰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80644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在$1.75万亿估值下，SpaceX必须展示星舰快速可复用性、V3星链规模化部署（60颗卫星/次发射）和2027年移动连接服务。在轨加注技术尚未验证。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44652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888888"/>
                </a:solidFill>
                <a:latin typeface="Microsoft YaHei"/>
              </a:defRPr>
            </a:pPr>
            <a:r>
              <a:t>数据来源：SpaceX S-1 IPO招股书（2026年5月）；公司财报；行业报告。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新太空经济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AABBDD"/>
                </a:solidFill>
                <a:latin typeface="Microsoft YaHei"/>
              </a:defRPr>
            </a:pPr>
            <a:r>
              <a:t>航天正从政府主导向商业驱动转变 —— 2030年可寻址市场超过$6,000亿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2651760" cy="1828800"/>
          </a:xfrm>
          <a:prstGeom prst="rect">
            <a:avLst/>
          </a:prstGeom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2651760" cy="457200"/>
          </a:xfrm>
          <a:prstGeom prst="rect">
            <a:avLst/>
          </a:prstGeom>
          <a:solidFill>
            <a:srgbClr val="1B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发射服务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19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007ACC"/>
                </a:solidFill>
                <a:latin typeface="Microsoft YaHei"/>
              </a:defRPr>
            </a:pPr>
            <a:r>
              <a:t>$180–220亿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86000"/>
            <a:ext cx="23774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增速8–10% CAGR;</a:t>
            </a:r>
            <a:br/>
            <a:r>
              <a:t>SpaceX主导&gt;80%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280160"/>
            <a:ext cx="2651760" cy="1828800"/>
          </a:xfrm>
          <a:prstGeom prst="rect">
            <a:avLst/>
          </a:prstGeom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280160"/>
            <a:ext cx="2651760" cy="457200"/>
          </a:xfrm>
          <a:prstGeom prst="rect">
            <a:avLst/>
          </a:prstGeom>
          <a:solidFill>
            <a:srgbClr val="1B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32588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卫星宽带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874519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007ACC"/>
                </a:solidFill>
                <a:latin typeface="Microsoft YaHei"/>
              </a:defRPr>
            </a:pPr>
            <a:r>
              <a:t>$300–500亿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286000"/>
            <a:ext cx="23774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星链是先发领导者;</a:t>
            </a:r>
            <a:br/>
            <a:r>
              <a:t>Kuiper、Lightspeed正在入场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2651760" cy="1828800"/>
          </a:xfrm>
          <a:prstGeom prst="rect">
            <a:avLst/>
          </a:prstGeom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280160"/>
            <a:ext cx="2651760" cy="457200"/>
          </a:xfrm>
          <a:prstGeom prst="rect">
            <a:avLst/>
          </a:prstGeom>
          <a:solidFill>
            <a:srgbClr val="1B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32588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政府/军事航天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874519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007ACC"/>
                </a:solidFill>
                <a:latin typeface="Microsoft YaHei"/>
              </a:defRPr>
            </a:pPr>
            <a:r>
              <a:t>$400–600亿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286000"/>
            <a:ext cx="23774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NSSL Phase 3 = $137亿;</a:t>
            </a:r>
            <a:br/>
            <a:r>
              <a:t>SDA Tranche III = $8.16亿+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52560" y="1280160"/>
            <a:ext cx="2651760" cy="1828800"/>
          </a:xfrm>
          <a:prstGeom prst="rect">
            <a:avLst/>
          </a:prstGeom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1280160"/>
            <a:ext cx="2651760" cy="457200"/>
          </a:xfrm>
          <a:prstGeom prst="rect">
            <a:avLst/>
          </a:prstGeom>
          <a:solidFill>
            <a:srgbClr val="1B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20" y="132588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航天数据与AI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1874519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007ACC"/>
                </a:solidFill>
                <a:latin typeface="Microsoft YaHei"/>
              </a:defRPr>
            </a:pPr>
            <a:r>
              <a:t>$1,000亿+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2286000"/>
            <a:ext cx="23774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轨道计算、对地观测/情报;</a:t>
            </a:r>
            <a:br/>
            <a:r>
              <a:t>SpaceX xAI押注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383280"/>
            <a:ext cx="10515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B2A47"/>
                </a:solidFill>
                <a:latin typeface="Microsoft YaHei"/>
              </a:defRPr>
            </a:pPr>
            <a:r>
              <a:t>关键结构性趋势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794760"/>
            <a:ext cx="103327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发射成本自2000年以来下降&gt;95%（$50,000/kg → ~$1,000/kg）——解锁了新商业模式（手机直连卫星、轨道计算、巨型星座）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251960"/>
            <a:ext cx="103327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五角大楼从成本加成转向固定价格商业采购（NSSL Phase 3、SDA螺旋开发）——有利于低成本、高频次供应商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709160"/>
            <a:ext cx="103327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卫星宽带TAM因26亿人仍无法上网而持续扩大；海事、航空和国防垂直领域是高ARPU用户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166360"/>
            <a:ext cx="103327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国家安全航天支出加速——中国、俄罗斯反卫星威胁推动美国扩散型架构（SDA、金穹导弹防御）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23560"/>
            <a:ext cx="103327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AI计算正向轨道迁移——SpaceX xAI合并逻辑：星舰发射能力支撑零延迟轨道数据中心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44652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888888"/>
                </a:solidFill>
                <a:latin typeface="Microsoft YaHei"/>
              </a:defRPr>
            </a:pPr>
            <a:r>
              <a:t>数据来源：SpaceX S-1（2026年5月）；Quilty Space；Payload Space；McKinsey；SDA；太空军NSSL Phase 3合同公告。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行业经济学 — 价值链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AABBDD"/>
                </a:solidFill>
                <a:latin typeface="Microsoft YaHei"/>
              </a:defRPr>
            </a:pPr>
            <a:r>
              <a:t>利润集中于服务层；从发射到终端用户的垂直整合是制胜公式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560320" cy="2286000"/>
          </a:xfrm>
          <a:prstGeom prst="rect">
            <a:avLst/>
          </a:prstGeom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60320" cy="594360"/>
          </a:xfrm>
          <a:prstGeom prst="rect">
            <a:avLst/>
          </a:prstGeom>
          <a:solidFill>
            <a:srgbClr val="1B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23774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研发与</a:t>
            </a:r>
            <a:br/>
            <a:r>
              <a:t>制造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0312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007ACC"/>
                </a:solidFill>
                <a:latin typeface="Microsoft YaHei"/>
              </a:defRPr>
            </a:pPr>
            <a:r>
              <a:t>10-15%利润率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51760"/>
            <a:ext cx="2286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资本密集;</a:t>
            </a:r>
            <a:br/>
            <a:r>
              <a:t>长研发周期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371600"/>
            <a:ext cx="2560320" cy="2286000"/>
          </a:xfrm>
          <a:prstGeom prst="rect">
            <a:avLst/>
          </a:prstGeom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371600"/>
            <a:ext cx="2560320" cy="594360"/>
          </a:xfrm>
          <a:prstGeom prst="rect">
            <a:avLst/>
          </a:prstGeom>
          <a:solidFill>
            <a:srgbClr val="1B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371600"/>
            <a:ext cx="23774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发射</a:t>
            </a:r>
            <a:br/>
            <a:r>
              <a:t>服务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10312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007ACC"/>
                </a:solidFill>
                <a:latin typeface="Microsoft YaHei"/>
              </a:defRPr>
            </a:pPr>
            <a:r>
              <a:t>20-40%利润率</a:t>
            </a:r>
            <a:br/>
            <a:r>
              <a:t>（有复用时）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651760"/>
            <a:ext cx="2286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可复用性是利润杠杆;</a:t>
            </a:r>
            <a:br/>
            <a:r>
              <a:t>星舰研发=$30亿/年消耗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371600"/>
            <a:ext cx="2560320" cy="2286000"/>
          </a:xfrm>
          <a:prstGeom prst="rect">
            <a:avLst/>
          </a:prstGeom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0" y="1371600"/>
            <a:ext cx="2560320" cy="594360"/>
          </a:xfrm>
          <a:prstGeom prst="rect">
            <a:avLst/>
          </a:prstGeom>
          <a:solidFill>
            <a:srgbClr val="1B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1371600"/>
            <a:ext cx="23774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卫星</a:t>
            </a:r>
            <a:br/>
            <a:r>
              <a:t>运营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210312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007ACC"/>
                </a:solidFill>
                <a:latin typeface="Microsoft YaHei"/>
              </a:defRPr>
            </a:pPr>
            <a:r>
              <a:t>40-60%利润率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2651760"/>
            <a:ext cx="2286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地面站、频谱权、</a:t>
            </a:r>
            <a:br/>
            <a:r>
              <a:t>星座管理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0" y="1371600"/>
            <a:ext cx="2560320" cy="2286000"/>
          </a:xfrm>
          <a:prstGeom prst="rect">
            <a:avLst/>
          </a:prstGeom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0" y="1371600"/>
            <a:ext cx="2560320" cy="594360"/>
          </a:xfrm>
          <a:prstGeom prst="rect">
            <a:avLst/>
          </a:prstGeom>
          <a:solidFill>
            <a:srgbClr val="1B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1371600"/>
            <a:ext cx="23774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终端用户</a:t>
            </a:r>
            <a:br/>
            <a:r>
              <a:t>服务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210312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007ACC"/>
                </a:solidFill>
                <a:latin typeface="Microsoft YaHei"/>
              </a:defRPr>
            </a:pPr>
            <a:r>
              <a:t>60%+利润率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2651760"/>
            <a:ext cx="2286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星链$113.9亿营收;</a:t>
            </a:r>
            <a:br/>
            <a:r>
              <a:t>消费、企业、国防垂直市场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63240" y="2331720"/>
            <a:ext cx="13716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06440" y="2331720"/>
            <a:ext cx="13716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549640" y="2331720"/>
            <a:ext cx="13716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931920"/>
            <a:ext cx="10515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B2A47"/>
                </a:solidFill>
                <a:latin typeface="Microsoft YaHei"/>
              </a:defRPr>
            </a:pPr>
            <a:r>
              <a:t>各公司价值链覆盖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34340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7ACC"/>
                </a:solidFill>
                <a:latin typeface="Microsoft YaHei"/>
              </a:defRPr>
            </a:pPr>
            <a:r>
              <a:t>SpaceX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40" y="4343400"/>
            <a:ext cx="9144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垂直整合覆盖全部四个层级——制造、发射、运营卫星、服务终端用户。唯一规模化覆盖全栈的公司。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84632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7ACC"/>
                </a:solidFill>
                <a:latin typeface="Microsoft YaHei"/>
              </a:defRPr>
            </a:pPr>
            <a:r>
              <a:t>蓝色起源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77440" y="4846320"/>
            <a:ext cx="9144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仅发射层（新格伦）。无卫星运营。无消费业务。BE-4发动机出售给ULA。Kuiper是亚马逊的业务，非蓝色起源。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34924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7ACC"/>
                </a:solidFill>
                <a:latin typeface="Microsoft YaHei"/>
              </a:defRPr>
            </a:pPr>
            <a:r>
              <a:t>火箭实验室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77440" y="5349240"/>
            <a:ext cx="9144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发射（电子号/中子号）+ 空间系统（卫星制造）。通过并购向上游扩展（Mynaric、Motive）。无消费宽带。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852160"/>
            <a:ext cx="1371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7ACC"/>
                </a:solidFill>
                <a:latin typeface="Microsoft YaHei"/>
              </a:defRPr>
            </a:pPr>
            <a:r>
              <a:t>波音 / ULA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40" y="5852160"/>
            <a:ext cx="9144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制造（SLS、卫星）+ 发射（通过ULA的Vulcan）。传统成本加成模式。无可复用。无消费服务。依赖政府合同。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44652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888888"/>
                </a:solidFill>
                <a:latin typeface="Microsoft YaHei"/>
              </a:defRPr>
            </a:pPr>
            <a:r>
              <a:t>数据来源：SpaceX S-1 IPO招股书（2026年5月）；公司财报；行业报告。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SpaceX — 公司画像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AABBDD"/>
                </a:solidFill>
                <a:latin typeface="Microsoft YaHei"/>
              </a:defRPr>
            </a:pPr>
            <a:r>
              <a:t>从发射公司转型为卫星宽带现金引擎，现押注AI和星舰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61288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011680"/>
                <a:gridCol w="1828800"/>
                <a:gridCol w="2286000"/>
                <a:gridCol w="2011680"/>
                <a:gridCol w="1645920"/>
              </a:tblGrid>
              <a:tr h="3200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业务板块</a:t>
                      </a:r>
                    </a:p>
                  </a:txBody>
                  <a:tcPr anchor="ctr"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FY2025营收</a:t>
                      </a:r>
                    </a:p>
                  </a:txBody>
                  <a:tcPr anchor="ctr"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同比增速</a:t>
                      </a:r>
                    </a:p>
                  </a:txBody>
                  <a:tcPr anchor="ctr"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运营利润/(亏损)</a:t>
                      </a:r>
                    </a:p>
                  </a:txBody>
                  <a:tcPr anchor="ctr"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EBITDA / 利润率</a:t>
                      </a:r>
                    </a:p>
                  </a:txBody>
                  <a:tcPr anchor="ctr"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备注</a:t>
                      </a:r>
                    </a:p>
                  </a:txBody>
                  <a:tcPr anchor="ctr">
                    <a:solidFill>
                      <a:srgbClr val="1B2A4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星链（连接业务）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$113.9亿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+50%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$44.2亿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$71.7亿 / 63%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唯一盈利板块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发射服务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$40.9亿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+7.6%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($6.6亿)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星舰研发=$30亿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165次发射, &gt;80%份额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xAI（2026年2月并入）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$32亿(2025)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不可比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($63.6亿)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资本支出=$127亿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Anthropic: $12.5亿/月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公司合并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$186.7亿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+29%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($25.9亿)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调整后EBITDA ~$15亿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净亏损: ($49.4亿)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36576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07ACC"/>
                </a:solidFill>
                <a:latin typeface="Microsoft YaHei"/>
              </a:defRPr>
            </a:pPr>
            <a:r>
              <a:t>发射节奏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3657600"/>
            <a:ext cx="8961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2025年165次轨道发射（约每2.2天一次）。122次内部（星链），43次外部。仅佛罗里达州即达100次发射。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605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07ACC"/>
                </a:solidFill>
                <a:latin typeface="Microsoft YaHei"/>
              </a:defRPr>
            </a:pPr>
            <a:r>
              <a:t>可复用性记录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4160520"/>
            <a:ext cx="8961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571次助推器着陆。助推器复用33+次。整流罩复用36+次。助推器翻新约$100万/次。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634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07ACC"/>
                </a:solidFill>
                <a:latin typeface="Microsoft YaHei"/>
              </a:defRPr>
            </a:pPr>
            <a:r>
              <a:t>成本优势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4663440"/>
            <a:ext cx="8961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内部成本约$629–$1,400/kg至近地轨道。客户价格约$7,000万/猎鹰9。竞争对手定价$1–3.5亿/次。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6636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07ACC"/>
                </a:solidFill>
                <a:latin typeface="Microsoft YaHei"/>
              </a:defRPr>
            </a:pPr>
            <a:r>
              <a:t>星链规模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5166360"/>
            <a:ext cx="8961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约9,600颗在轨卫星。1,030万用户（Q1 2026）。ARPU降至$66/月——主动'以价换量'策略。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6692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07ACC"/>
                </a:solidFill>
                <a:latin typeface="Microsoft YaHei"/>
              </a:defRPr>
            </a:pPr>
            <a:r>
              <a:t>星舰投资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5669280"/>
            <a:ext cx="8961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累计研发&gt;$150亿。V3首飞2026年5月23日。33台Raptor 3发动机，1,800万磅推力，&gt;100吨至近地轨道。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1722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07ACC"/>
                </a:solidFill>
                <a:latin typeface="Microsoft YaHei"/>
              </a:defRPr>
            </a:pPr>
            <a:r>
              <a:t>IPO背景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6172200"/>
            <a:ext cx="8961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NASDAQ: SPCX，~2026年6月12日。目标$1.75–2.0万亿估值（~94× P/S）。$750亿融资。马斯克保留85.1%投票权。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4652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888888"/>
                </a:solidFill>
                <a:latin typeface="Microsoft YaHei"/>
              </a:defRPr>
            </a:pPr>
            <a:r>
              <a:t>数据来源：SpaceX S-1 IPO招股书（2026年5月）；NextBigFuture；Payload Space；Quilty Space。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可复用性是决定性护城河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AABBDD"/>
                </a:solidFill>
                <a:latin typeface="Microsoft YaHei"/>
              </a:defRPr>
            </a:pPr>
            <a:r>
              <a:t>猎鹰9复用经济性优于任何竞争对手5–10倍 — 而星舰目标进一步扩大差距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188720"/>
          <a:ext cx="548640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0" y="1188720"/>
          <a:ext cx="5943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011680"/>
                <a:gridCol w="1645920"/>
              </a:tblGrid>
              <a:tr h="3200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成本构成</a:t>
                      </a:r>
                    </a:p>
                  </a:txBody>
                  <a:tcPr anchor="ctr"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复用飞行成本</a:t>
                      </a:r>
                    </a:p>
                  </a:txBody>
                  <a:tcPr anchor="ctr"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占比</a:t>
                      </a:r>
                    </a:p>
                  </a:txBody>
                  <a:tcPr anchor="ctr">
                    <a:solidFill>
                      <a:srgbClr val="1B2A4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助推器摊销+翻新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$100–300万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8–20%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全新第二级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$700–1,200万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55–65%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整流罩回收/翻新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~$25万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1–2%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推进剂 (液氧+RP-1)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~$25–100万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2–7%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回收与地面操作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~$100–200万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7–13%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任务保障/质检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~$200–400万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15–27%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总边际成本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~$1,100–1,500万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100%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4297680"/>
            <a:ext cx="1737360" cy="822960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343400"/>
            <a:ext cx="1645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007ACC"/>
                </a:solidFill>
                <a:latin typeface="Microsoft YaHei"/>
              </a:defRPr>
            </a:pPr>
            <a:r>
              <a:t>571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75488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助推器</a:t>
            </a:r>
            <a:br/>
            <a:r>
              <a:t>着陆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4297680"/>
            <a:ext cx="1737360" cy="822960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14600" y="4343400"/>
            <a:ext cx="1645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007ACC"/>
                </a:solidFill>
                <a:latin typeface="Microsoft YaHei"/>
              </a:defRPr>
            </a:pPr>
            <a:r>
              <a:t>33×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475488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最高助推器</a:t>
            </a:r>
            <a:br/>
            <a:r>
              <a:t>复用次数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4297680"/>
            <a:ext cx="1737360" cy="822960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4343400"/>
            <a:ext cx="1645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007ACC"/>
                </a:solidFill>
                <a:latin typeface="Microsoft YaHei"/>
              </a:defRPr>
            </a:pPr>
            <a:r>
              <a:t>36×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475488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最高整流罩</a:t>
            </a:r>
            <a:br/>
            <a:r>
              <a:t>复用次数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4297680"/>
            <a:ext cx="1737360" cy="822960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4343400"/>
            <a:ext cx="1645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007ACC"/>
                </a:solidFill>
                <a:latin typeface="Microsoft YaHei"/>
              </a:defRPr>
            </a:pPr>
            <a:r>
              <a:t>~$100万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75488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助推器翻新</a:t>
            </a:r>
            <a:br/>
            <a:r>
              <a:t>成本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4297680"/>
            <a:ext cx="1737360" cy="822960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4343400"/>
            <a:ext cx="1645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007ACC"/>
                </a:solidFill>
                <a:latin typeface="Microsoft YaHei"/>
              </a:defRPr>
            </a:pPr>
            <a:r>
              <a:t>165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475488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2025年</a:t>
            </a:r>
            <a:br/>
            <a:r>
              <a:t>发射次数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49840" y="4297680"/>
            <a:ext cx="1737360" cy="822960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95560" y="4343400"/>
            <a:ext cx="1645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007ACC"/>
                </a:solidFill>
                <a:latin typeface="Microsoft YaHei"/>
              </a:defRPr>
            </a:pPr>
            <a:r>
              <a:t>~70%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5560" y="475488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星链</a:t>
            </a:r>
            <a:br/>
            <a:r>
              <a:t>自部署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94960"/>
            <a:ext cx="10515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B2A47"/>
                </a:solidFill>
                <a:latin typeface="Microsoft YaHei"/>
              </a:defRPr>
            </a:pPr>
            <a:r>
              <a:t>星舰 — 下一个飞跃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76072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星舰V3：33台Raptor 3发动机，1,800万磅推力，&gt;100吨至近地轨道——2026年5月23日首飞。每次发射部署60颗V3星链卫星（每颗1 Tbps）。</a:t>
            </a:r>
            <a:br/>
            <a:r>
              <a:t>• 可复用性目标：超重型助推器（用筷子捕捉回收）和星舰上面级的完全快速复用。在轨加注技术尚未验证。</a:t>
            </a:r>
            <a:br/>
            <a:r>
              <a:t>• 若成功：每公斤成本可降至约$100–200/kg——相较猎鹰9再提升5–10倍，可能是航空航天史上最具颠覆性的成本革命。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44652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888888"/>
                </a:solidFill>
                <a:latin typeface="Microsoft YaHei"/>
              </a:defRPr>
            </a:pPr>
            <a:r>
              <a:t>数据来源：SpaceX S-1（2026年5月）；NextBigFuture；CNBC；IndexBox；Wikipedia Falcon 9。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星链与政府 — 双引擎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AABBDD"/>
                </a:solidFill>
                <a:latin typeface="Microsoft YaHei"/>
              </a:defRPr>
            </a:pPr>
            <a:r>
              <a:t>星链是利润引擎；政府合同提供稳定需求基础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B2A47"/>
                </a:solidFill>
                <a:latin typeface="Microsoft YaHei"/>
              </a:defRPr>
            </a:pPr>
            <a:r>
              <a:t>星链 — 现金牛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969264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371600"/>
                <a:gridCol w="1371600"/>
                <a:gridCol w="1645920"/>
                <a:gridCol w="1645920"/>
              </a:tblGrid>
              <a:tr h="3200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2023</a:t>
                      </a:r>
                    </a:p>
                  </a:txBody>
                  <a:tcPr anchor="ctr"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2024</a:t>
                      </a:r>
                    </a:p>
                  </a:txBody>
                  <a:tcPr anchor="ctr"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Q1 2026</a:t>
                      </a:r>
                    </a:p>
                  </a:txBody>
                  <a:tcPr anchor="ctr"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2026E (Quilty)</a:t>
                      </a:r>
                    </a:p>
                  </a:txBody>
                  <a:tcPr anchor="ctr">
                    <a:solidFill>
                      <a:srgbClr val="1B2A4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用户数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230万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440万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890万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1,030万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1,680–2,500万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营收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~$51亿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~$76亿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$113.9亿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$32.6亿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$187–200亿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运营利润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~$20亿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~$20亿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$44.2亿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$11.9亿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EBITDA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~$25亿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~$38.6亿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$71.7亿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~$140亿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EBITDA利润率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~49%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~50%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63%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~70%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月均ARPU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$99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$91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$81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$66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策略性下降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84632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B2A47"/>
                </a:solidFill>
                <a:latin typeface="Microsoft YaHei"/>
              </a:defRPr>
            </a:pPr>
            <a:r>
              <a:t>收入结构与垂直市场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16636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消费订阅：约占星链营收60%。企业/政府：约40%且持续增长——海事（2026E估$19亿）、航空、星盾（国防部：2026E约$32亿）。</a:t>
            </a:r>
            <a:br/>
            <a:r>
              <a:t>• 164个国家，约9,600颗在轨卫星。V3卫星（每颗1 Tbps）需星舰部署。手机直连卫星服务计划于2027年推出。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政府合同基础：NSSL Phase 3 — 28次任务，$59亿。NASA阿尔忒弥斯/星舰HLS — $30亿+。星盾/国防部 — 机密卫星平台。SDA — 扩散型近地轨道架构。</a:t>
            </a:r>
            <a:br/>
            <a:r>
              <a:t>关键优势：垂直整合意味着SpaceX在每个层级获取利润（发射+卫星平台+运营+服务），区别于纯业务竞争对手。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888888"/>
                </a:solidFill>
                <a:latin typeface="Microsoft YaHei"/>
              </a:defRPr>
            </a:pPr>
            <a:r>
              <a:t>数据来源：SpaceX S-1（2026年5月）；Quilty Space星链财务概览2026；Morningstar；Ars Technica NSSL报道。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竞争定位 — 多因素雷达图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AABBDD"/>
                </a:solidFill>
                <a:latin typeface="Microsoft YaHei"/>
              </a:defRPr>
            </a:pPr>
            <a:r>
              <a:t>五个维度：可复用性、发射节奏、成本竞争力、政府足迹、技术护城河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188720"/>
          <a:ext cx="5943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0" y="1188720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B2A47"/>
                </a:solidFill>
                <a:latin typeface="Microsoft YaHei"/>
              </a:defRPr>
            </a:pPr>
            <a:r>
              <a:t>评分方法（1–10分制）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0" y="1554480"/>
          <a:ext cx="484632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017520"/>
              </a:tblGrid>
              <a:tr h="3200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 anchor="ctr"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评估内容</a:t>
                      </a:r>
                    </a:p>
                  </a:txBody>
                  <a:tcPr anchor="ctr">
                    <a:solidFill>
                      <a:srgbClr val="1B2A4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可复用性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已展示的助推器/飞船复用能力、翻新成本、飞行验证频次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发射节奏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年度轨道发射次数；生产与运营吞吐量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成本竞争力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$/kg至近地轨道；商业和政府市场定价对比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政府足迹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NSSL、NASA、SDA合同；安全许可基础设施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技术护城河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专有技术（发动机、航电、卫星平台）；知识产权可防御性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垂直整合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内部制造占比；跨价值链层级控制力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0" y="4846320"/>
            <a:ext cx="5029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关键洞察：SpaceX是唯一在所有维度得分接近满分的竞争者。波音在政府足迹上得分高（传统在位优势），但在可复用性和发射节奏上接近零分。蓝色起源拥有强大的技术但发射节奏薄弱（18个月3次）。火箭实验室在多因素综合评分中最接近第二名，但营收规模仅为SpaceX的1/30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888888"/>
                </a:solidFill>
                <a:latin typeface="Microsoft YaHei"/>
              </a:defRPr>
            </a:pPr>
            <a:r>
              <a:t>数据来源：SpaceX S-1 IPO招股书（2026年5月）；公司财报；行业报告。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蓝色起源 — 深度分析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AABBDD"/>
                </a:solidFill>
                <a:latin typeface="Microsoft YaHei"/>
              </a:defRPr>
            </a:pPr>
            <a:r>
              <a:t>资金充裕的挑战者，技术可信但执行节奏远低于竞争所需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09728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  <a:gridCol w="1828800"/>
                <a:gridCol w="4114800"/>
              </a:tblGrid>
              <a:tr h="3200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类别</a:t>
                      </a:r>
                    </a:p>
                  </a:txBody>
                  <a:tcPr anchor="ctr"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评估</a:t>
                      </a:r>
                    </a:p>
                  </a:txBody>
                  <a:tcPr anchor="ctr"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类别</a:t>
                      </a:r>
                    </a:p>
                  </a:txBody>
                  <a:tcPr anchor="ctr"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评估</a:t>
                      </a:r>
                    </a:p>
                  </a:txBody>
                  <a:tcPr anchor="ctr">
                    <a:solidFill>
                      <a:srgbClr val="1B2A4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业务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私人发射供应商；由Jeff Bezos全资资助（至今估$100–200亿）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营收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私人；估&lt;$5亿（发射频次有限）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核心资产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新格伦重型火箭（45吨至近地轨道）；BE-4发动机（也为ULA Vulcan提供动力）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估值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估$500–1,000亿（无外部融资轮次）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优势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• 财力雄厚的创始人——无限资本跑道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• 新格伦在商业上提供最优$/kg（~$1,333/kg）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• BE-4发动机是收入来源（出售给ULA）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• NASA HLS合同（$34亿蓝月着陆器）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劣势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• 18个月3次发射——发射节奏是生存风险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• 未展示规模化助推器复用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• 无卫星或消费业务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• Kuiper是亚马逊的，非蓝色起源——缺失服务层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策略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将新格伦提升至20+次/年；第4次飞行后获取NSSL认证；蓝月月球着陆器为阿尔忒弥斯V服务；$6亿工厂扩建（Project Horizon）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关键风险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• 贝索斯耐心非无限——正在考虑引入外部投资者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• $3.41亿/次政府发射是SpaceX NSSL定价的5×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• 2028年目标60次发射/年显得乐观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937760"/>
            <a:ext cx="10515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E86A17"/>
                </a:solidFill>
                <a:latin typeface="Microsoft YaHei"/>
              </a:defRPr>
            </a:pPr>
            <a:r>
              <a:t>竞争评估：落后数年，但唯一具备可比雄心的竞争者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5156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蓝色起源是SpaceX最可信的长期竞争者——但差距巨大。新格伦是能力出色的火箭，但18个月3次发射对比SpaceX 2025年165次不属于同一竞争量级。$6亿工厂投资和NSSL订单表明战略意图，但从2次跃升至60次发射/年需要蓝色起源尚未展示的制造和运营转型。Kuiper星座（亚马逊，非蓝色起源）可提供发射需求，但蓝色起源无法获取服务层经济收益——其结构上仅限于发射利润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888888"/>
                </a:solidFill>
                <a:latin typeface="Microsoft YaHei"/>
              </a:defRPr>
            </a:pPr>
            <a:r>
              <a:t>数据来源：蓝色起源新闻稿；Ars Technica；SpaceNews；USSF NSSL Phase 3合同数据；ainvest.com。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火箭实验室 — 深度分析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AABBDD"/>
                </a:solidFill>
                <a:latin typeface="Microsoft YaHei"/>
              </a:defRPr>
            </a:pPr>
            <a:r>
              <a:t>最可信的'新航天'同行——空间系统业务盈利，但中子号首飞是生死之战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09728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  <a:gridCol w="1828800"/>
                <a:gridCol w="4114800"/>
              </a:tblGrid>
              <a:tr h="3200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类别</a:t>
                      </a:r>
                    </a:p>
                  </a:txBody>
                  <a:tcPr anchor="ctr"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评估</a:t>
                      </a:r>
                    </a:p>
                  </a:txBody>
                  <a:tcPr anchor="ctr"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类别</a:t>
                      </a:r>
                    </a:p>
                  </a:txBody>
                  <a:tcPr anchor="ctr"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评估</a:t>
                      </a:r>
                    </a:p>
                  </a:txBody>
                  <a:tcPr anchor="ctr">
                    <a:solidFill>
                      <a:srgbClr val="1B2A4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业务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上市公司（RKLB，市值约$780亿）；端到端航天公司——发射+卫星制造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财务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FY2025: $6.018亿营收（+38%同比）。Q1 2026: $2.003亿（+63%）。Q1 2026净亏损($4,500万)——接近盈亏平衡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核心资产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电子号（小型发射，2025年21次）；中子号（中型，2026Q4首飞）；空间系统（占营收66.9%）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订单储备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$22亿（Q1 2026），+108%同比。70+次电子号，5+次中子号任务已预订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优势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• 2025年电子号100%发射成功率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• 空间系统稳定、增长、高利润率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• SDA Tranche III中标（$8.16亿）——重大信誉信号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• 接近EBITDA盈亏平衡——不同于多数航天初创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• 政府和商业订单储备多样化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劣势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• 中子号推迟至Q4 2026——再次延期将是股价风险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• 21次发射对比SpaceX 165次——小众规模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• 无消费宽带或服务层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• $14亿现金在当前燃烧率下支撑2–3年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• 依赖并购实现垂直整合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策略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中子号2026Q4首飞；竞标NSSL Phase 3 Lane 1（商业类任务）；通过并购扩展空间系统；2027年实现正向自由现金流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关键风险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• 中子号失败将重创股价和增长逻辑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• 供应商瓶颈（光通信终端）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• SDA固定价格合同的利润率风险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• SpaceX拼车服务侵蚀小型发射TAM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846320"/>
            <a:ext cx="10515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2ECC71"/>
                </a:solidFill>
                <a:latin typeface="Microsoft YaHei"/>
              </a:defRPr>
            </a:pPr>
            <a:r>
              <a:t>竞争评估：次规模下的最佳运营者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212080"/>
            <a:ext cx="10515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火箭实验室是同组中管理最出色的公司——资本配置严谨、执行强劲（电子号100%成功）、清晰的盈利路径。但规模是结构性问题：$6亿营收和21次年发射无法与SpaceX的$186.7亿和165次发射竞争。中子号（$5,000万/次，13吨至近地轨道）可打开中型发射市场和NSSL Lane 1——但首飞前，火箭实验室仍是一家有中型发射故事的小型发射公司。空间系统转型（现占营收67%）是明智的多元化，但也承认单靠发射无法达到规模化。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888888"/>
                </a:solidFill>
                <a:latin typeface="Microsoft YaHei"/>
              </a:defRPr>
            </a:pPr>
            <a:r>
              <a:t>数据来源：火箭实验室Q1 2026财报（2026年5月）；SEC文件；The Motley Fool电话会议记录；TNW；NASDAQ。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波音 — 深度分析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AABBDD"/>
                </a:solidFill>
                <a:latin typeface="Microsoft YaHei"/>
              </a:defRPr>
            </a:pPr>
            <a:r>
              <a:t>传统国防巨头，其航天业务是财务拖累而非增长引擎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09728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  <a:gridCol w="1828800"/>
                <a:gridCol w="4114800"/>
              </a:tblGrid>
              <a:tr h="3200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类别</a:t>
                      </a:r>
                    </a:p>
                  </a:txBody>
                  <a:tcPr anchor="ctr"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评估</a:t>
                      </a:r>
                    </a:p>
                  </a:txBody>
                  <a:tcPr anchor="ctr"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类别</a:t>
                      </a:r>
                    </a:p>
                  </a:txBody>
                  <a:tcPr anchor="ctr"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评估</a:t>
                      </a:r>
                    </a:p>
                  </a:txBody>
                  <a:tcPr anchor="ctr">
                    <a:solidFill>
                      <a:srgbClr val="1B2A4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业务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国防、航天与安全（BDS）——$272亿营收（2025），仅小部分为航天。波音整体：$410亿+债务。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收入结构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BDS $272亿（+14%同比）。航天是BDS内的子板块——军用飞机、导弹、卫星、星际线、SLS。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航天资产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星际线（载人飞船）；SLS芯级（NASA阿尔忒弥斯）；卫星制造；持有ULA 50%股份（与洛克希德合资）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财务拖累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BDS 2025年运营亏损($1.28亿)——较2024年($54亿)改善。星际线是$17亿固定价格项目费用的一部分（2025年1月）。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优势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• $850亿BDS订单储备——创纪录水平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• 深厚在位优势：与NASA、国防部关系跨越数十年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• SLS对阿尔忒弥斯近期不可替代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• 卫星制造传统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• 国际客户基础（26%订单储备）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劣势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• 星际线：迟到数年，预算超支数十亿，尚未执行运营性ISS载人轮换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• 固定价格合同持续亏损（KC-46、T-7A、VC-25B、MQ-25、星际线）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• 无可复用发射——依赖ULA（一次性）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• 波音资产负债表危机：$410亿债务，737 MAX阴影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• 旧航天成本结构：无法商业竞争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策略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稳定问题项目；退出或削减星际线风险；可能出售ULA；聚焦核心国防平台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相关性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航天是这家大型危机公司中一个小而有问题的部分。波音的航天未来是传统政府硬件，而非商业竞争。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846320"/>
            <a:ext cx="10515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95A5A6"/>
                </a:solidFill>
                <a:latin typeface="Microsoft YaHei"/>
              </a:defRPr>
            </a:pPr>
            <a:r>
              <a:t>竞争评估：并非商业航天竞争者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212080"/>
            <a:ext cx="10515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将波音纳入本分析因其历史角色，而非对SpaceX的竞争威胁。公司的航天活动——星际线、SLS、ULA股份——是传统成本加成项目，非商业竞争者。星际线已成为数十亿美元的灾难：迟到数年，仍未成为可靠的ISS载人运输工具，属于$17亿+固定价格费用超支的一部分。更重要的是：波音$410亿债务负担和商用航空危机意味着航天投资在争夺稀缺的公司资本。如果说有什么启示，波音的挣扎验证了SpaceX的模式：固定价格商业合同、垂直整合和迭代开发胜于成本加成传统项目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888888"/>
                </a:solidFill>
                <a:latin typeface="Microsoft YaHei"/>
              </a:defRPr>
            </a:pPr>
            <a:r>
              <a:t>数据来源：波音10-K FY2025；Airforce Technology Q4 2025报告；insidedefense.com；SEC文件。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ULA — 深度分析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AABBDD"/>
                </a:solidFill>
                <a:latin typeface="Microsoft YaHei"/>
              </a:defRPr>
            </a:pPr>
            <a:r>
              <a:t>纯发射合资企业，夹在传统成本结构与新航天经济之间——在可复用时代仍坚持一次性使用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09728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  <a:gridCol w="1828800"/>
                <a:gridCol w="4114800"/>
              </a:tblGrid>
              <a:tr h="3200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类别</a:t>
                      </a:r>
                    </a:p>
                  </a:txBody>
                  <a:tcPr anchor="ctr"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评估</a:t>
                      </a:r>
                    </a:p>
                  </a:txBody>
                  <a:tcPr anchor="ctr"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类别</a:t>
                      </a:r>
                    </a:p>
                  </a:txBody>
                  <a:tcPr anchor="ctr"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评估</a:t>
                      </a:r>
                    </a:p>
                  </a:txBody>
                  <a:tcPr anchor="ctr">
                    <a:solidFill>
                      <a:srgbClr val="1B2A4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业务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波音/洛克希德·马丁50/50合资企业。纯发射——无卫星、无服务。正在从Atlas V过渡到Vulcan Centaur。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2025表现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共5次发射：4次Atlas V（全部Kuiper），1次Vulcan（USSF-106）。计划最多20次——远未达标。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核心资产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Vulcan Centaur——一次性重型火箭，27.2吨至近地轨道。BE-4发动机来自蓝色起源。NSSL Phase 3: 19次任务，$53亿。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成本低效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$2.14–2.82亿/次政府发射 vs SpaceX $1.43–2.12亿。成本在上升：Phase 2曾是$1.12–1.19亿。Vulcan为100%一次性。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优势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• 无与伦比的政府任务保障记录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• 47次Kuiper发射已签约（需求可见性）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• Vulcan可执行高能轨道（GEO、行星际）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• 与太空军/NRO的在位信任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劣势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• 完全一次性——无可复用路径，无成本改善曲线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• BE-4依赖：蓝色起源同时也是竞争者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• 2025年仅5次发射；目标2026–27年20–25次显得乐观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• 无Vulcan之外的研发管线；无下一代运载器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• 股东（波音、洛克希德）据报正在探索出售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策略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将Vulcan发射节奏提升至20–25次/年（2026–27）；执行47次Kuiper发射；利用NSSL在位优势；潜在出售或重组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关键风险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Vulcan的一次性架构保证其在成本上永远无法匹敌SpaceX。在复用技术已被证明的世界里，ULA的商业模式结构上无竞争力。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846320"/>
            <a:ext cx="10515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8E44AD"/>
                </a:solidFill>
                <a:latin typeface="Microsoft YaHei"/>
              </a:defRPr>
            </a:pPr>
            <a:r>
              <a:t>竞争评估：在位特许经营权，无增长故事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212080"/>
            <a:ext cx="10515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ULA是'旧航天'模式面临生存威胁的最纯粹案例。其Vulcan火箭性能出色但是一次性的——每次发射消耗$1亿+第一级，而SpaceX以$100万边际翻新成本复用助推器33次。ULA的NSSL合同价格实际上在上升（$2.14–2.82亿），而SpaceX的价格稳定或下降。47次发射的Kuiper合同提供近期需求，但这是救命稻草而非战略。BE-4发动机依赖是战略弱点：ULA依赖直接竞争者（蓝色起源）获取核心推进系统。如果新格伦成功，蓝色起源有充分动机优先保障自身发射。波音和洛克希德在探索出售ULA说明一切：母公司视其为结构上正在贬值的资产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888888"/>
                </a:solidFill>
                <a:latin typeface="Microsoft YaHei"/>
              </a:defRPr>
            </a:pPr>
            <a:r>
              <a:t>数据来源：ULA新闻稿；Ars Technica NSSL定价分析；Satellite Today；SpaceNews；NASASpaceflight论坛。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综合对比计分卡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AABBDD"/>
                </a:solidFill>
                <a:latin typeface="Microsoft YaHei"/>
              </a:defRPr>
            </a:pPr>
            <a:r>
              <a:t>航空航天与国防关键维度的逐一对比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43000"/>
          <a:ext cx="1170432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2011680"/>
                <a:gridCol w="2011680"/>
                <a:gridCol w="2011680"/>
                <a:gridCol w="2011680"/>
              </a:tblGrid>
              <a:tr h="3200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 anchor="ctr"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SpaceX</a:t>
                      </a:r>
                    </a:p>
                  </a:txBody>
                  <a:tcPr anchor="ctr"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蓝色起源</a:t>
                      </a:r>
                    </a:p>
                  </a:txBody>
                  <a:tcPr anchor="ctr"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火箭实验室</a:t>
                      </a:r>
                    </a:p>
                  </a:txBody>
                  <a:tcPr anchor="ctr"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波音（航天）</a:t>
                      </a:r>
                    </a:p>
                  </a:txBody>
                  <a:tcPr anchor="ctr"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ULA</a:t>
                      </a:r>
                    </a:p>
                  </a:txBody>
                  <a:tcPr anchor="ctr">
                    <a:solidFill>
                      <a:srgbClr val="1B2A4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营收（航天）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●●● $186.7亿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●○○ 估&lt;$5亿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●●○ $6.018亿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●●● $272亿 (BDS)*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●●○ 估$10–20亿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增长（同比）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●●● +29%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●○○ 早期阶段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●●● +38%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●●○ +14%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●○○ 持平/低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发射节奏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●●● 165 (2025)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●○○ 2 (2025)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●●○ 21 (2025)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N/A (通过ULA)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●○○ 5 (2025)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可复用性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●●● 33×助推器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●○○ 1次回收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●●○ 中子号规划中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○○○ 无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○○○ 一次性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每公斤至LEO成本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●●● ~$2,700/kg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●●○ ~$1,333/kg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●●○ ~$25K/kg (电子号)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○○○ 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●○○ ~$9,500/kg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政府合同基础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●●● $90亿+ NSSL+NASA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●●○ $58亿 阿尔忒弥斯+NSSL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●●○ $8.16亿 SDA+HASTE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●●● $850亿 BDS储备*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●●○ $53亿 NSSL Phase 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垂直整合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●●● 85-90%内部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●●○ BE-4+新格伦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●●○ 通过并购扩张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●●○ 传统制造基础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●○○ 仅组装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消费业务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●●● 星链1,030万用户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○○○ 无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○○○ 无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○○○ 无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○○○ 无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盈利能力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●●○ 星链63% EBITDA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○○○ 深度亏损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●●○ 接近盈亏平衡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●○○ BDS ~盈亏平衡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●○○ 低利润率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技术护城河宽度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●●● 全栈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●●○ 发动机技术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●●○ 发射+卫星制造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●○○ 传统知识产权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●○○ 仅在位优势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62356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* 波音BDS（$272亿）绝大部分是军用飞机（F-15、F/A-18、KC-46、T-7）和导弹，并非航天。航天占BDS营收&lt;15%。</a:t>
            </a:r>
            <a:br/>
            <a:r>
              <a:t>● = 在同组内的相对强度。评分是定性评估，在本组内比较——火箭实验室在增长上得●●●不意味其绝对金额增长快于SpaceX。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888888"/>
                </a:solidFill>
                <a:latin typeface="Microsoft YaHei"/>
              </a:defRPr>
            </a:pPr>
            <a:r>
              <a:t>数据来源：SpaceX S-1 IPO招股书（2026年5月）；公司财报；行业报告。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SWOT分析 — SpaceX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AABBDD"/>
                </a:solidFill>
                <a:latin typeface="Microsoft YaHei"/>
              </a:defRPr>
            </a:pPr>
            <a:r>
              <a:t>在每个优势类别中占主导地位，但脆弱之处真实存在且高度集中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669280" cy="365760"/>
          </a:xfrm>
          <a:prstGeom prst="rect">
            <a:avLst/>
          </a:prstGeom>
          <a:solidFill>
            <a:srgbClr val="1B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07008"/>
            <a:ext cx="5394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优势 (STRENGTHS)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5669280" cy="2194560"/>
          </a:xfrm>
          <a:prstGeom prst="rect">
            <a:avLst/>
          </a:prstGeom>
          <a:ln w="12700">
            <a:solidFill>
              <a:srgbClr val="1B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45920"/>
            <a:ext cx="5394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S1. 可复用性护城河——无竞争对手展示规模化助推器复用。33×助推器复用、36×整流罩、~$100万翻新成本。这是5–10年的领先优势。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029967"/>
            <a:ext cx="5394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S2. 星链现金引擎——$113.9亿营收、63% EBITDA利润率、1,030万用户。唯一实现规模化盈利的卫星宽带星座。自我造血。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414015"/>
            <a:ext cx="5394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S3. 垂直整合——85-90%内部制造。SpaceX自产发动机、航电、卫星和用户终端。无关键供应商依赖。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798064"/>
            <a:ext cx="5394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S4. 发射节奏主导——2025年165次发射（&gt;80%全球份额）。发射在规模上本质是物流业务；发射节奏本身就是护城河。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182111"/>
            <a:ext cx="5394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S5. 人才与品牌——航空航天领域最受追捧的雇主。吸引顶尖工程师。马斯克个人品牌驱动资本获取和客户兴趣。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188720"/>
            <a:ext cx="5669280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207008"/>
            <a:ext cx="5394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劣势 (WEAKNESSES)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554480"/>
            <a:ext cx="5669280" cy="2194560"/>
          </a:xfrm>
          <a:prstGeom prst="rect">
            <a:avLst/>
          </a:prstGeom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645920"/>
            <a:ext cx="5394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W1. 星舰执行风险——&gt;$150亿已投入，快速复用仍未经证实。在轨加注未展示。重大失败将击穿IPO逻辑。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029967"/>
            <a:ext cx="5394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W2. 合并亏损——尽管星链盈利，公司2025年亏损$49.4亿。xAI每$1营收烧$2。现金流依赖星链。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414015"/>
            <a:ext cx="5394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W3. 关键人风险——马斯克与SpaceX不可分割。IPO后85.1%投票控制权。注意力分散风险（xAI、Twitter/X、Tesla、DOGE、个人事务）。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798064"/>
            <a:ext cx="5394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W4. ARPU下降——星链ARPU从$99（2023）降至$66（Q1 2026）。用户量增长但发展中市场单位经济恶化。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182111"/>
            <a:ext cx="5394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W5. 监管/地缘政治——ITU频谱争议、中国/俄罗斯市场排除、马斯克国内政治阻力、FCC/NOAA/FAA监管摩擦。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023360"/>
            <a:ext cx="566928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041648"/>
            <a:ext cx="5394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机会 (OPPORTUNITIES)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389120"/>
            <a:ext cx="5669280" cy="2194560"/>
          </a:xfrm>
          <a:prstGeom prst="rect">
            <a:avLst/>
          </a:prstGeom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480560"/>
            <a:ext cx="5394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O1. 星舰商业化（2026H2）——V3卫星（每颗1 Tbps），每次60颗。2027年手机直连卫星。轨道AI计算——$22.7万亿TAM叙事。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4864607"/>
            <a:ext cx="5394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O2. 全球宽带未覆盖——26亿未联网人口。海事（2026年$19亿）、航空、国防垂直领域是高ARPU用户。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5248655"/>
            <a:ext cx="5394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O3. 国家安全需求——扩散型近地轨道架构（SDA）。金穹导弹防御。乌克兰/台湾冲突推升弹性空间网络紧迫性。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5632704"/>
            <a:ext cx="5394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O4. NASA阿尔忒弥斯与深空——HLS月球着陆器。火星架构。在轨加注解锁地月及行星际市场。NASA是深空的专属客户。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016751"/>
            <a:ext cx="5394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O5. IPO融资——$750亿融资加速星舰、星链V3和xAI基础设施投资——进一步拓宽护城河。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4023360"/>
            <a:ext cx="5669280" cy="365760"/>
          </a:xfrm>
          <a:prstGeom prst="rect">
            <a:avLst/>
          </a:prstGeom>
          <a:solidFill>
            <a:srgbClr val="E86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4041648"/>
            <a:ext cx="5394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威胁 (THREATS)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4389120"/>
            <a:ext cx="5669280" cy="2194560"/>
          </a:xfrm>
          <a:prstGeom prst="rect">
            <a:avLst/>
          </a:prstGeom>
          <a:ln w="12700">
            <a:solidFill>
              <a:srgbClr val="E86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4480560"/>
            <a:ext cx="5394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T1. Kuiper星座——亚马逊Project Kuiper （3,000+颗卫星）正通过ULA/蓝色起源部署。亚马逊拥有消费分销、AWS云整合和无限资本。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4864607"/>
            <a:ext cx="5394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T2. 蓝色起源/新格伦量产——如新格伦在2028年前达到20+次/年节奏，将挑战猎鹰9在商业市场地位。BE-4是真实技术；执行问题在于节奏。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5248655"/>
            <a:ext cx="5394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T3. 中子号入场（2027+）——火箭实验室中子号$5,000万/次将是首个在价格上可信的中型竞争者。小而危险，在特定市场。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5632704"/>
            <a:ext cx="5394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T4. 监管与政治——马斯克争议性强。IPO后股东激进主义可能挑战85.1%投票控制权。FCC频谱争夺。ITU协调。出口管制（ITAR）。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6016751"/>
            <a:ext cx="5394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T5. 中国国资竞争——中科宇航、蓝箭航天、星河动力瞄准2026–27年可复用火箭。中国将航天视为战略领域：无限国资投入。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44652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888888"/>
                </a:solidFill>
                <a:latin typeface="Microsoft YaHei"/>
              </a:defRPr>
            </a:pPr>
            <a:r>
              <a:t>数据来源：SpaceX S-1 IPO招股书（2026年5月）；公司财报；行业报告。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护城河评估与战略优势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AABBDD"/>
                </a:solidFill>
                <a:latin typeface="Microsoft YaHei"/>
              </a:defRPr>
            </a:pPr>
            <a:r>
              <a:t>SpaceX的护城河宽阔且持续加深——但集中在竞争对手正在积极瞄准的领域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114300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2286000"/>
                <a:gridCol w="2286000"/>
                <a:gridCol w="2286000"/>
              </a:tblGrid>
              <a:tr h="3200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护城河类型</a:t>
                      </a:r>
                    </a:p>
                  </a:txBody>
                  <a:tcPr anchor="ctr"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SpaceX优势</a:t>
                      </a:r>
                    </a:p>
                  </a:txBody>
                  <a:tcPr anchor="ctr"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评级</a:t>
                      </a:r>
                    </a:p>
                  </a:txBody>
                  <a:tcPr anchor="ctr"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持久性</a:t>
                      </a:r>
                    </a:p>
                  </a:txBody>
                  <a:tcPr anchor="ctr"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关键风险</a:t>
                      </a:r>
                    </a:p>
                  </a:txBody>
                  <a:tcPr anchor="ctr">
                    <a:solidFill>
                      <a:srgbClr val="1B2A4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网络效应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星链：1,030万用户，164个国家。更多用户→更多营收→更多卫星→更好覆盖→更多用户。跨边：海事/航空/国防垂直领域是粘性B2B。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极高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(20+年)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Kuiper+亚马逊分销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转换成本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政府合同（NSSL、NASA）是多年期，转换成本高。星链消费端：转换成本低但留存率高（92%+）。企业端：集成终端。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中等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(10+年)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消费端价格竞争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规模经济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165次/年发射将固定成本摊销至海量。星链：9,600颗卫星，每颗边际成本递减。任何竞争者需50+次/年发射方可竞争成本。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极高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(15+年)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星舰失败将限制发射节奏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无形资产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品牌：SpaceX在公众认知中=航天。专有数据：571次助推器着陆的飞行数据。Raptor发动机IP。ITU频谱优先权。NSSL/NASA信任。马斯克光环。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强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中等</a:t>
                      </a:r>
                    </a:p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(10+年)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马斯克IPO后声誉风险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114800"/>
            <a:ext cx="10515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B2A47"/>
                </a:solidFill>
                <a:latin typeface="Microsoft YaHei"/>
              </a:defRPr>
            </a:pPr>
            <a:r>
              <a:t>持续复合的结构性优势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10332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7ACC"/>
                </a:solidFill>
                <a:latin typeface="Microsoft YaHei"/>
              </a:defRPr>
            </a:pPr>
            <a:r>
              <a:t>1. 可复用性飞轮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00016"/>
            <a:ext cx="10332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更多发射→更多助推器回收→更多数据→更好复用→更低成本→更多发射。SpaceX已完成571次着陆；次名（蓝色起源）仅1次。这不是追赶——是完全不同层次的产业。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10332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7ACC"/>
                </a:solidFill>
                <a:latin typeface="Microsoft YaHei"/>
              </a:defRPr>
            </a:pPr>
            <a:r>
              <a:t>2. 星链自筹研发资金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48656"/>
            <a:ext cx="10332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星链$71.7亿EBITDA为星舰提供资金（$30亿/年）并部分抵消xAI亏损。无竞争者拥有可资助下一代研发的现金产生服务业务。蓝色起源消耗贝索斯资金。火箭实验室消耗投资者资金。波音航天研发与商用航空争夺稀缺的公司资金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577840"/>
            <a:ext cx="10332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7ACC"/>
                </a:solidFill>
                <a:latin typeface="Microsoft YaHei"/>
              </a:defRPr>
            </a:pPr>
            <a:r>
              <a:t>3. 全栈控制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797296"/>
            <a:ext cx="10332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SpaceX自产火箭（猎鹰/星舰）、卫星平台（星链V2/V3）、用户终端和地面网络。这消除了供应商利润叠加和协调延迟。唯一主要外部依赖是推进剂（液氧/RP-1/LNG）。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126480"/>
            <a:ext cx="10332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7ACC"/>
                </a:solidFill>
                <a:latin typeface="Microsoft YaHei"/>
              </a:defRPr>
            </a:pPr>
            <a:r>
              <a:t>4. IPO固化领先优势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345936"/>
            <a:ext cx="10332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$750亿IPO融资——如按目标估值执行——将为SpaceX提供使竞争追赶几乎不可能的战争宝库。$750亿超过蓝色起源（$500–1,000亿）和火箭实验室（$78亿）的合并估计价值。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888888"/>
                </a:solidFill>
                <a:latin typeface="Microsoft YaHei"/>
              </a:defRPr>
            </a:pPr>
            <a:r>
              <a:t>数据来源：SpaceX S-1 IPO招股书（2026年5月）；公司财报；行业报告。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关键风险与脆弱性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AABBDD"/>
                </a:solidFill>
                <a:latin typeface="Microsoft YaHei"/>
              </a:defRPr>
            </a:pPr>
            <a:r>
              <a:t>看多逻辑令人信服——但风险堆叠深厚且高度集中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115214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560320"/>
                <a:gridCol w="2011680"/>
                <a:gridCol w="2743200"/>
                <a:gridCol w="2560320"/>
              </a:tblGrid>
              <a:tr h="3200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风险类别</a:t>
                      </a:r>
                    </a:p>
                  </a:txBody>
                  <a:tcPr anchor="ctr"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具体风险</a:t>
                      </a:r>
                    </a:p>
                  </a:txBody>
                  <a:tcPr anchor="ctr"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严重性</a:t>
                      </a:r>
                    </a:p>
                  </a:txBody>
                  <a:tcPr anchor="ctr"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概率</a:t>
                      </a:r>
                    </a:p>
                  </a:txBody>
                  <a:tcPr anchor="ctr"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对投资论点的影响</a:t>
                      </a:r>
                    </a:p>
                  </a:txBody>
                  <a:tcPr anchor="ctr">
                    <a:solidFill>
                      <a:srgbClr val="1B2A4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星舰执行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V3快速复用失败；在轨加注未经验证；隔热瓦耐久性问题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致命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20–30%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估值削减50%+。V3星链、手机直连、轨道AI和阿尔忒弥斯全部依赖星舰。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竞争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Kuiper规模化部署（3,000+颗卫星）；中子号以$5,000万进入中型市场；中国研发可复用火箭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30–40%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星链定价压力。发射市场份额侵蚀。利润率扩张放缓。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关键人/治理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马斯克注意力分散/健康/法律问题；IPO后85.1%投票权被挑战；股东激进主义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15–20%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领导真空。战略漂移。治理折价。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xAI现金消耗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xAI亏损加速超过星链EBITDA能力；Anthropic取消$12.5亿/月合同（90天条款）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25–35%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合并亏损迫使融资。稀释。IPO估值下调。分散航天主业注意力。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监管/地缘政治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FCC频谱争议；ITAR出口限制限制全球市场；中国/俄罗斯排除；马斯克政治阻力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中等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25–35%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星链国际采用放缓。中国市场封闭。监管成本/合规负担。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资本密集度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星舰基础设施：每次发射需244辆LNG罐车+100万加仑水。扩展至数百次/年需海量资本支出。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中等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40–50%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自由现金流延迟。IPO资金被基础设施消耗。折旧压缩利润率。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集中度风险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星链=61%营收且几乎全部利润。若星链增长停滞，整个投资逻辑削弱。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15–20%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宽带领域的Kuiper/中国竞争直接威胁唯一利润引擎。无多元化。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44652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888888"/>
                </a:solidFill>
                <a:latin typeface="Microsoft YaHei"/>
              </a:defRPr>
            </a:pPr>
            <a:r>
              <a:t>数据来源：SpaceX S-1 IPO招股书（2026年5月）；公司财报；行业报告。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投资情景 — 牛市 / 基础 / 熊市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AABBDD"/>
                </a:solidFill>
                <a:latin typeface="Microsoft YaHei"/>
              </a:defRPr>
            </a:pPr>
            <a:r>
              <a:t>概率加权结果由星舰执行、星链增长和竞争动态驱动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11430000" cy="1737360"/>
          </a:xfrm>
          <a:prstGeom prst="rect">
            <a:avLst/>
          </a:prstGeom>
          <a:ln w="127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11430000" cy="4114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16152"/>
            <a:ext cx="10972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牛市  |  30% 概率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5486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星舰V3实现快速复用——2028年前50+次发射/年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83664"/>
            <a:ext cx="5486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星链增长至4,000万+用户；2028年EBITDA超$300亿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75688"/>
            <a:ext cx="5486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轨道AI计算成为真实业务；Anthropic协议续期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691640"/>
            <a:ext cx="5486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竞争者（Kuiper、中子号）未能缩小成本差距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883664"/>
            <a:ext cx="5486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IPO资金加速基础设施；SpaceX拓宽护城河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075688"/>
            <a:ext cx="5486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隐含估值：$2.5–3.0万亿（15× 2028E EBITDA ~$2,000亿）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17520"/>
            <a:ext cx="11430000" cy="1737360"/>
          </a:xfrm>
          <a:prstGeom prst="rect">
            <a:avLst/>
          </a:prstGeom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017520"/>
            <a:ext cx="11430000" cy="4114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044952"/>
            <a:ext cx="10972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基础  |  50% 概率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520440"/>
            <a:ext cx="5486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星舰实现部分复用；在轨加注成功但推迟至2027–28年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712464"/>
            <a:ext cx="5486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星链增长至2,000–2,500万用户；2028年EBITDA $150–180亿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904488"/>
            <a:ext cx="5486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Kuiper部署1,000+颗卫星；中子号入场——价格竞争出现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520440"/>
            <a:ext cx="5486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xAI亏损缓和但仍拖累合并盈利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712464"/>
            <a:ext cx="5486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发射市场份额从&gt;80%下降至65–70%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904488"/>
            <a:ext cx="5486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隐含估值：$1.5–2.0万亿（大致持平IPO，~10× 2028E EBITDA）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846320"/>
            <a:ext cx="11430000" cy="1737360"/>
          </a:xfrm>
          <a:prstGeom prst="rect">
            <a:avLst/>
          </a:prstGeom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4846320"/>
            <a:ext cx="1143000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873752"/>
            <a:ext cx="10972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熊市  |  20% 概率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349240"/>
            <a:ext cx="5486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星舰V3未能实现快速复用；项目重置或重大延迟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541264"/>
            <a:ext cx="5486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星链增长停滞在1,500万用户；ARPU下降加速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733288"/>
            <a:ext cx="5486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Kuiper + Lightspeed + 中国近地轨道宽带引发价格战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5349240"/>
            <a:ext cx="5486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xAI Anthropic合同被取消；AI板块需数十亿重组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5541264"/>
            <a:ext cx="5486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治理危机：马斯克注意力分散或股东反抗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5733288"/>
            <a:ext cx="5486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隐含估值：$5,000–8,000亿（4–5× 2028E EBITDA；低于IPO价格）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492240"/>
            <a:ext cx="10515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关键路标：Q4 2026前星舰V3运营节奏是唯一最重要的近期催化剂。如V3星链部署按期启动，牛市逻辑获得可信度。否则基础情景将向熊市偏移。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核心要点与关注路标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3657600" cy="254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07ACC"/>
                </a:solidFill>
                <a:latin typeface="Microsoft YaHei"/>
              </a:defRPr>
            </a:pPr>
            <a:r>
              <a:t>SpaceX是商业航天无可争议的领导者——且差距仍在扩大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BCCDD"/>
                </a:solidFill>
                <a:latin typeface="Microsoft YaHei"/>
              </a:defRPr>
            </a:pPr>
            <a:r>
              <a:t>可复用性（571次着陆、33×复用、$629/kg内部成本）是无竞争者可信挑战的护城河。星链（$113.9亿营收、63% EBITDA）是自我造血的引擎，交叉补贴星舰和xAI。无其他竞争者拥有此飞轮。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07ACC"/>
                </a:solidFill>
                <a:latin typeface="Microsoft YaHei"/>
              </a:defRPr>
            </a:pPr>
            <a:r>
              <a:t>竞争格局真实存在但落后数年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BCCDD"/>
                </a:solidFill>
                <a:latin typeface="Microsoft YaHei"/>
              </a:defRPr>
            </a:pPr>
            <a:r>
              <a:t>蓝色起源需要发射节奏（18个月3次）。火箭实验室需要中子号成功（2026Q4首飞）。ULA结构上无竞争力（一次性使用）。波音是航天业务处于急救状态的旧航天巨头。仅蓝色起源有长期挑战的雄心和资金——但执行未经证实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07ACC"/>
                </a:solidFill>
                <a:latin typeface="Microsoft YaHei"/>
              </a:defRPr>
            </a:pPr>
            <a:r>
              <a:t>IPO是结晶事件——且在极端估值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23359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BCCDD"/>
                </a:solidFill>
                <a:latin typeface="Microsoft YaHei"/>
              </a:defRPr>
            </a:pPr>
            <a:r>
              <a:t>$1.75–2.0万亿估值（~94× 2025年P/S）已将完美预期计入价格。牛市情景需要星舰快速复用、4,000万+星链用户和轨道AI计算全部实现。熊市情景（$5,000–8,000亿）是星舰搁浅、宽带价格战和xAI重组。这是包装在万亿估值中的二元结果。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9204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007ACC"/>
                </a:solidFill>
                <a:latin typeface="Microsoft YaHei"/>
              </a:defRPr>
            </a:pPr>
            <a:r>
              <a:t>护城河真实，但风险集中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16636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BBCCDD"/>
                </a:solidFill>
                <a:latin typeface="Microsoft YaHei"/>
              </a:defRPr>
            </a:pPr>
            <a:r>
              <a:t>网络效应（星链）、规模经济（165次/年发射）和全栈控制是持久的优势。但风险堆叠深厚：星舰执行、马斯克关键人集中、xAI现金消耗（$63.6亿亏损）和Kuiper竞争同时威胁论点。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9436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关键路标 — 2026/2027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263640"/>
            <a:ext cx="10058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2026H2：星舰V3星链部署启动  |  2026年6月：SpaceX IPO (SPCX)  |  2026Q4：中子号首飞（火箭实验室）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464807"/>
            <a:ext cx="10058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2027：Kuiper在轨卫星达1,000+颗  |  2027：星舰手机直连卫星服务上线  |  2027：新格伦目标20+次/年发射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665976"/>
            <a:ext cx="10058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888888"/>
                </a:solidFill>
                <a:latin typeface="Microsoft YaHei"/>
              </a:defRPr>
            </a:pPr>
            <a:r>
              <a:t>跟踪：星链ARPU走势  |  跟踪：xAI Anthropic合同续约  |  跟踪：ULA出售流程/重组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594360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67788"/>
                </a:solidFill>
                <a:latin typeface="Microsoft YaHei"/>
              </a:defRPr>
            </a:pPr>
            <a:r>
              <a:t>数据来源：SpaceX S-1（2026年5月）；</a:t>
            </a:r>
            <a:br/>
            <a:r>
              <a:t>公司财报；行业报告；</a:t>
            </a:r>
            <a:br/>
            <a:r>
              <a:t>Ars Technica；SpaceNews；Quilty Space。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