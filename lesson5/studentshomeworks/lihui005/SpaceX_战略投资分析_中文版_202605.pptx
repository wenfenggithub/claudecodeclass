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年度轨道发射次数——持续增长的发射频次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猎鹰9号/重型发射次数</c:v>
                </c:pt>
              </c:strCache>
            </c:strRef>
          </c:tx>
          <c:spPr>
            <a:solidFill>
              <a:srgbClr val="008CFF"/>
            </a:solidFill>
          </c:spP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31</c:v>
                </c:pt>
                <c:pt idx="2">
                  <c:v>61</c:v>
                </c:pt>
                <c:pt idx="3">
                  <c:v>96</c:v>
                </c:pt>
                <c:pt idx="4">
                  <c:v>134</c:v>
                </c:pt>
                <c:pt idx="5">
                  <c:v>165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1A1A1A"/>
                </a:solidFill>
              </a:defRPr>
            </a:pPr>
            <a:r>
              <a:t>客户支付的至LEO每公斤成本（美元）——越低越好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至LEO每公斤成本（美元）</c:v>
                </c:pt>
              </c:strCache>
            </c:strRef>
          </c:tx>
          <c:spPr>
            <a:solidFill>
              <a:srgbClr val="0B1D3A"/>
            </a:solidFill>
          </c:spPr>
          <c:cat>
            <c:strRef>
              <c:f>Sheet1!$A$2:$A$7</c:f>
              <c:strCache>
                <c:ptCount val="6"/>
                <c:pt idx="0">
                  <c:v>猎鹰9号
(SpaceX)</c:v>
                </c:pt>
                <c:pt idx="1">
                  <c:v>猎鹰重型
(SpaceX)</c:v>
                </c:pt>
                <c:pt idx="2">
                  <c:v>新格伦
(蓝色起源)</c:v>
                </c:pt>
                <c:pt idx="3">
                  <c:v>Vulcan Centaur
(ULA)</c:v>
                </c:pt>
                <c:pt idx="4">
                  <c:v>电子号
(火箭实验室)</c:v>
                </c:pt>
                <c:pt idx="5">
                  <c:v>Ariane 6
(Arianespace)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2720</c:v>
                </c:pt>
                <c:pt idx="1">
                  <c:v>2355</c:v>
                </c:pt>
                <c:pt idx="2">
                  <c:v>1555</c:v>
                </c:pt>
                <c:pt idx="3">
                  <c:v>9460</c:v>
                </c:pt>
                <c:pt idx="4">
                  <c:v>25555</c:v>
                </c:pt>
                <c:pt idx="5">
                  <c:v>10600</c:v>
                </c:pt>
              </c:numCache>
            </c:numRef>
          </c:val>
        </c:ser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1A1A1A"/>
                </a:solidFill>
              </a:defRPr>
            </a:pPr>
            <a:r>
              <a:t>分业务营收（十亿美元）——星链驱动增长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总营收（十亿美元）</c:v>
                </c:pt>
              </c:strCache>
            </c:strRef>
          </c:tx>
          <c:spPr>
            <a:ln w="31750">
              <a:solidFill>
                <a:srgbClr val="008CFF"/>
              </a:solidFill>
            </a:ln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4.6</c:v>
                </c:pt>
                <c:pt idx="2">
                  <c:v>8.7</c:v>
                </c:pt>
                <c:pt idx="3">
                  <c:v>11.4</c:v>
                </c:pt>
                <c:pt idx="4">
                  <c:v>18.67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星链营收（十亿美元）</c:v>
                </c:pt>
              </c:strCache>
            </c:strRef>
          </c:tx>
          <c:spPr>
            <a:ln w="31750">
              <a:solidFill>
                <a:srgbClr val="00BF6F"/>
              </a:solidFill>
            </a:ln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0.1</c:v>
                </c:pt>
                <c:pt idx="2">
                  <c:v>5.1</c:v>
                </c:pt>
                <c:pt idx="3">
                  <c:v>7.6</c:v>
                </c:pt>
                <c:pt idx="4">
                  <c:v>11.39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发射营收（十亿美元）</c:v>
                </c:pt>
              </c:strCache>
            </c:strRef>
          </c:tx>
          <c:spPr>
            <a:ln w="31750">
              <a:solidFill>
                <a:srgbClr val="FF6B35"/>
              </a:solidFill>
            </a:ln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2.0</c:v>
                </c:pt>
                <c:pt idx="1">
                  <c:v>3.0</c:v>
                </c:pt>
                <c:pt idx="2">
                  <c:v>3.3</c:v>
                </c:pt>
                <c:pt idx="3">
                  <c:v>3.8</c:v>
                </c:pt>
                <c:pt idx="4">
                  <c:v>4.09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r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SpaceX</c:v>
                </c:pt>
              </c:strCache>
            </c:strRef>
          </c:tx>
          <c:spPr>
            <a:solidFill>
              <a:srgbClr val="008CFF"/>
            </a:solidFill>
            <a:ln w="19050">
              <a:solidFill>
                <a:srgbClr val="008CFF"/>
              </a:solidFill>
            </a:ln>
          </c:spPr>
          <c:cat>
            <c:strRef>
              <c:f>Sheet1!$A$2:$A$7</c:f>
              <c:strCache>
                <c:ptCount val="6"/>
                <c:pt idx="0">
                  <c:v>可重复
使用性</c:v>
                </c:pt>
                <c:pt idx="1">
                  <c:v>发射
频次</c:v>
                </c:pt>
                <c:pt idx="2">
                  <c:v>成本
竞争力</c:v>
                </c:pt>
                <c:pt idx="3">
                  <c:v>政府
关系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蓝色起源</c:v>
                </c:pt>
              </c:strCache>
            </c:strRef>
          </c:tx>
          <c:spPr>
            <a:solidFill>
              <a:srgbClr val="FF6B35"/>
            </a:solidFill>
            <a:ln w="19050">
              <a:solidFill>
                <a:srgbClr val="FF6B35"/>
              </a:solidFill>
            </a:ln>
          </c:spPr>
          <c:cat>
            <c:strRef>
              <c:f>Sheet1!$A$2:$A$7</c:f>
              <c:strCache>
                <c:ptCount val="6"/>
                <c:pt idx="0">
                  <c:v>可重复
使用性</c:v>
                </c:pt>
                <c:pt idx="1">
                  <c:v>发射
频次</c:v>
                </c:pt>
                <c:pt idx="2">
                  <c:v>成本
竞争力</c:v>
                </c:pt>
                <c:pt idx="3">
                  <c:v>政府
关系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2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火箭实验室</c:v>
                </c:pt>
              </c:strCache>
            </c:strRef>
          </c:tx>
          <c:spPr>
            <a:solidFill>
              <a:srgbClr val="00BF6F"/>
            </a:solidFill>
            <a:ln w="19050">
              <a:solidFill>
                <a:srgbClr val="00BF6F"/>
              </a:solidFill>
            </a:ln>
          </c:spPr>
          <c:cat>
            <c:strRef>
              <c:f>Sheet1!$A$2:$A$7</c:f>
              <c:strCache>
                <c:ptCount val="6"/>
                <c:pt idx="0">
                  <c:v>可重复
使用性</c:v>
                </c:pt>
                <c:pt idx="1">
                  <c:v>发射
频次</c:v>
                </c:pt>
                <c:pt idx="2">
                  <c:v>成本
竞争力</c:v>
                </c:pt>
                <c:pt idx="3">
                  <c:v>政府
关系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波音</c:v>
                </c:pt>
              </c:strCache>
            </c:strRef>
          </c:tx>
          <c:spPr>
            <a:solidFill>
              <a:srgbClr val="7F8C9B"/>
            </a:solidFill>
            <a:ln w="19050">
              <a:solidFill>
                <a:srgbClr val="7F8C9B"/>
              </a:solidFill>
            </a:ln>
          </c:spPr>
          <c:cat>
            <c:strRef>
              <c:f>Sheet1!$A$2:$A$7</c:f>
              <c:strCache>
                <c:ptCount val="6"/>
                <c:pt idx="0">
                  <c:v>可重复
使用性</c:v>
                </c:pt>
                <c:pt idx="1">
                  <c:v>发射
频次</c:v>
                </c:pt>
                <c:pt idx="2">
                  <c:v>成本
竞争力</c:v>
                </c:pt>
                <c:pt idx="3">
                  <c:v>政府
关系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8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ULA</c:v>
                </c:pt>
              </c:strCache>
            </c:strRef>
          </c:tx>
          <c:spPr>
            <a:solidFill>
              <a:srgbClr val="8E44AD"/>
            </a:solidFill>
            <a:ln w="19050">
              <a:solidFill>
                <a:srgbClr val="8E44AD"/>
              </a:solidFill>
            </a:ln>
          </c:spPr>
          <c:cat>
            <c:strRef>
              <c:f>Sheet1!$A$2:$A$7</c:f>
              <c:strCache>
                <c:ptCount val="6"/>
                <c:pt idx="0">
                  <c:v>可重复
使用性</c:v>
                </c:pt>
                <c:pt idx="1">
                  <c:v>发射
频次</c:v>
                </c:pt>
                <c:pt idx="2">
                  <c:v>成本
竞争力</c:v>
                </c:pt>
                <c:pt idx="3">
                  <c:v>政府
关系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tr"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SPACEX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08CFF"/>
                </a:solidFill>
                <a:latin typeface="Microsoft YaHei"/>
              </a:defRPr>
            </a:pPr>
            <a:r>
              <a:t>战略与投资深度分析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2286000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F8C9B"/>
                </a:solidFill>
                <a:latin typeface="Microsoft YaHei"/>
              </a:defRPr>
            </a:pPr>
            <a:r>
              <a:t>机构研究  |  IPO前分析  |  2026年5月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080A0"/>
                </a:solidFill>
                <a:latin typeface="Microsoft YaHei"/>
              </a:defRPr>
            </a:pPr>
            <a:r>
              <a:t>发射主导地位  •  星链现金引擎  •  可重复使用护城河  •  1.75万亿美元IPO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5486400"/>
            <a:ext cx="3017520" cy="457200"/>
          </a:xfrm>
          <a:prstGeom prst="rect">
            <a:avLst/>
          </a:prstGeom>
          <a:ln w="12700">
            <a:solidFill>
              <a:srgbClr val="7F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553212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7F8C9B"/>
                </a:solidFill>
                <a:latin typeface="Microsoft YaHei"/>
              </a:defRPr>
            </a:pPr>
            <a:r>
              <a:t>机 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SpaceX 是一家垂直整合的航空航天领导者，正从发射服务商转型为基础设施垄断者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48840" cy="8046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874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2025财年营收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1874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$187亿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874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B0CC"/>
                </a:solidFill>
                <a:latin typeface="Microsoft YaHei"/>
              </a:defRPr>
            </a:pPr>
            <a:r>
              <a:t>发射$41亿 + 星链$114亿 + xAI$32亿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188720"/>
            <a:ext cx="2148840" cy="8046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39" y="1261872"/>
            <a:ext cx="1874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星链用户数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1444752"/>
            <a:ext cx="1874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1,030万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1874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B0CC"/>
                </a:solidFill>
                <a:latin typeface="Microsoft YaHei"/>
              </a:defRPr>
            </a:pPr>
            <a:r>
              <a:t>164个国家 | 63% EBITDA利润率 | $72亿 EBITDA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188720"/>
            <a:ext cx="2148840" cy="8046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261872"/>
            <a:ext cx="1874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发射市场份额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444752"/>
            <a:ext cx="1874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&gt;80%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737360"/>
            <a:ext cx="1874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B0CC"/>
                </a:solidFill>
                <a:latin typeface="Microsoft YaHei"/>
              </a:defRPr>
            </a:pPr>
            <a:r>
              <a:t>2025年165次轨道发射 | 猎鹰9号复用：33次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19" y="1188720"/>
            <a:ext cx="2148840" cy="8046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261872"/>
            <a:ext cx="1874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星舰研发投入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1444752"/>
            <a:ext cx="1874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&gt;$150亿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37360"/>
            <a:ext cx="1874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B0CC"/>
                </a:solidFill>
                <a:latin typeface="Microsoft YaHei"/>
              </a:defRPr>
            </a:pPr>
            <a:r>
              <a:t>累计投入 | V3首飞2026年5月 | &gt;100吨至LEO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188720"/>
            <a:ext cx="2148840" cy="8046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261872"/>
            <a:ext cx="1874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IPO目标估值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444752"/>
            <a:ext cx="1874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$1.75–2.0万亿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737360"/>
            <a:ext cx="1874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B0CC"/>
                </a:solidFill>
                <a:latin typeface="Microsoft YaHei"/>
              </a:defRPr>
            </a:pPr>
            <a:r>
              <a:t>~2026年6月 | NASDAQ: SPCX | 融资$750亿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194560"/>
            <a:ext cx="10515600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423160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1  |  可重复使用是决定性竞争优势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624328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猎鹰9号助推器已重复使用33次以上，单次翻新成本约100万美元。内部发射成本约$629–$1,400/kg至LEO，比任何竞争对手便宜5–10倍。星舰目标再降低5–10倍至$100–200/kg。尚无任何竞争对手在规模上展示了可比的重复使用能力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37560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2  |  星链是整个企业的利润引擎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538728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星链2025年营收$114亿（同比+50%），EBITDA利润率63%。其$72亿EBITDA支撑着星舰研发（$30亿/年），并部分抵消xAI亏损（2025年$64亿）。它是唯一一个在规模上实现盈利的卫星宽带星座——且仍处于早期阶段。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51960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3  |  IPO是决定性事件——估值极度高昂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53128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以$1.75–2.0万亿估值（~94倍2025年P/S），IPO定价包含了星舰完美执行、4,000万+星链用户和轨道AI计算——三者必须同时实现。$750亿融资将使SpaceX拥有超过所有主要竞争对手合计市值的资本储备。2028年牛市/熊市估值差达$2.5万亿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4  |  竞争对手存在但处于结构性劣势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67528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蓝色起源18个月内仅发射3枚新格伦火箭（SpaceX 2025年发射165次）。火箭实验室在小发射领域表现出色，但中子火箭2026年Q4才首飞。ULA完全依赖一次性火箭，成本持续上升。波音的星际线飞船是数十亿美元的负担。没有任何竞争对手拥有发射+卫星运营+消费宽带的整合能力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公司概览——三大业务线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一家发射公司转型为卫星宽带现金引擎，现押注轨道AI计算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发射服务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3657600" cy="3749039"/>
          </a:xfrm>
          <a:prstGeom prst="rect">
            <a:avLst/>
          </a:prstGeom>
          <a:ln w="1270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营收：$40.9亿（FY2025），同比+7.6%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2025年165次轨道发射（全球份额&gt;80%）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猎鹰9号：主力火箭，商业发射定价约$7,000万/次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猎鹰重型：重型运载，用于高能轨道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星舰：下一代，V3版2026年5月23日首飞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成本优势：内部成本约$629/kg，竞争对手$1,500–$25,000/kg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研发：星舰$30亿/年；累计投入&gt;$150亿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188720"/>
            <a:ext cx="3657600" cy="457200"/>
          </a:xfrm>
          <a:prstGeom prst="rect">
            <a:avLst/>
          </a:prstGeom>
          <a:solidFill>
            <a:srgbClr val="00B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216152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星链（连接业务）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645920"/>
            <a:ext cx="3657600" cy="3749039"/>
          </a:xfrm>
          <a:prstGeom prst="rect">
            <a:avLst/>
          </a:prstGeom>
          <a:ln w="1270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6916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营收：$113.9亿（FY2025），同比+50%——唯一盈利板块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945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1,030万用户，覆盖164个国家（2026年Q1）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9748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约9,600颗卫星在轨；V3版（每颗1 Tbps）需星舰部署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004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63% EBITDA利润率；2025年EBITDA为$71.7亿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033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ARPU持续下降：$99（2023年）→ $66（2026年Q1）——以价换量策略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062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企业/政府垂直领域：海事、航空、星盾（国防部）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7091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手机直连卫星服务计划于2027年推出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18872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216152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xAI（人工智能）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645920"/>
            <a:ext cx="3657600" cy="3749039"/>
          </a:xfrm>
          <a:prstGeom prst="rect">
            <a:avLst/>
          </a:prstGeom>
          <a:ln w="1270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6916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营收：$32亿（FY2025）；2026年2月并入SpaceX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运营亏损：2025年$63.6亿——每$1收入烧$2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69748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Anthropic算力合同：$12.5亿/月（3年$450亿）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004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资本支出：2025年$127亿——Colossus超级计算机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7033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任一方可提前90天通知取消合同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2062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论点：星舰使轨道AI数据中心成为可能（零延迟、无限太阳能）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091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风险：AI资本支出周期可能见顶；若Anthropic取消，xAI难以独立生存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5486400"/>
          <a:ext cx="7589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188720"/>
                <a:gridCol w="164592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业务板块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FY2025营收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同比增速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运营利润/(亏损)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关键指标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$113.9亿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$44.2亿盈利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1,030万用户, 63% EBITDA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发射服务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$40.9亿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+7.6%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($6.6亿)亏损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165次发射, &gt;80%份额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xAI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$32亿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不可比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($63.6亿)亏损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Anthropic: $12.5亿/月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合并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$186.7亿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+29%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($25.9亿)亏损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净亏损: ($49.4亿)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新太空经济——可寻址市场总量（TAM）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太空正从政府主导转向商业驱动——2030年可达$6,000亿+市场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97480" cy="5029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2514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发射服务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$180–220亿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增速8–10% CAGR;</a:t>
            </a:r>
            <a:br/>
            <a:r>
              <a:t>SpaceX主导&gt;80%;</a:t>
            </a:r>
            <a:br/>
            <a:r>
              <a:t>星舰将拓展TAM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697480" cy="5029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207008"/>
            <a:ext cx="2514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卫星宽带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$300–500亿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星链是先发领导者;</a:t>
            </a:r>
            <a:br/>
            <a:r>
              <a:t>全球26亿人未联网;</a:t>
            </a:r>
            <a:br/>
            <a:r>
              <a:t>海事/航空/国防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697480" cy="5029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07008"/>
            <a:ext cx="2514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政府与</a:t>
            </a:r>
            <a:br/>
            <a:r>
              <a:t>国防航天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$400–600亿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NSSL第三阶段: $137亿;</a:t>
            </a:r>
            <a:br/>
            <a:r>
              <a:t>SDA扩散型LEO;</a:t>
            </a:r>
            <a:br/>
            <a:r>
              <a:t>金穹导弹防御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188720"/>
            <a:ext cx="2697480" cy="5029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207008"/>
            <a:ext cx="2514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轨道AI与</a:t>
            </a:r>
            <a:br/>
            <a:r>
              <a:t>数据服务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82880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$1,000亿+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33172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SpaceX xAI合并论点;</a:t>
            </a:r>
            <a:br/>
            <a:r>
              <a:t>零延迟轨道计算;</a:t>
            </a:r>
            <a:br/>
            <a:r>
              <a:t>地球观测/情报数据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00400"/>
            <a:ext cx="10515600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8328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B1D3A"/>
                </a:solidFill>
                <a:latin typeface="Microsoft YaHei"/>
              </a:defRPr>
            </a:pPr>
            <a:r>
              <a:t>推动太空经济的结构性利好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• 发射成本自2000年以来下降超95%（约$50,000/kg → ~$1,000/kg），解锁了巨型星座、手机直连卫星和轨道计算等全新商业模式。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33672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• 五角大楼从成本加成转向固定价格商业采购（NSSL第三阶段、SDA螺旋开发）——结构性利好低成本、高发射频次的供应商。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72584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• 全球仍有26亿人未联网，卫星宽带TAM持续扩大。海事（2026年$19亿）、航空和国防垂直领域是高ARPU早期采用者。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11496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• 国家安全航天支出加速——中俄反卫星威胁推动美国向扩散型LEO架构转型（仅SDA第三批次就授予火箭实验室$8.16亿合同）。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50408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• AI计算是最大变数——SpaceX的xAI合并押注星舰赋能的轨道数据中心（无限太阳能、零延迟）将创造全新计算范式。尚未验证，但TAM叙事高达$22.7万亿。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S-1招股书（2026年5月）；Quilty Space；Payload Space；McKinsey &amp; Co.；SDA；美国太空军NSSL第三阶段合同；摩根士丹利航天产业估算。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发射业务——从猎鹰到星舰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2025年165次发射（全球份额&gt;80%）——发射在规模上是一门物流生意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042416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280160"/>
                <a:gridCol w="1371600"/>
                <a:gridCol w="201168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火箭型号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LEO运力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单次发射价格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可重复使用能力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竞争地位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猎鹰9号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22,800 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~$7,000万（商业）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运营中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33× 助推器复用</a:t>
                      </a:r>
                      <a:br/>
                      <a:r>
                        <a:t>36× 整流罩复用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主力火箭——成本+</a:t>
                      </a:r>
                      <a:br/>
                      <a:r>
                        <a:t>发射频次无与伦比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猎鹰重型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63,800 kg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$1.5亿+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运营中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三助推器回收</a:t>
                      </a:r>
                      <a:br/>
                      <a:r>
                        <a:t>（芯级回收更困难）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重型运力利基市场;</a:t>
                      </a:r>
                      <a:br/>
                      <a:r>
                        <a:t>与Vulcan/新格伦竞争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 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&gt;100,000 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待定（目标~$1,000万）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试飞阶段</a:t>
                      </a:r>
                      <a:br/>
                      <a:r>
                        <a:t>（2026年5月）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完全快速复用</a:t>
                      </a:r>
                      <a:br/>
                      <a:r>
                        <a:t>（助推器+飞船）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如成功：成本再降10倍</a:t>
                      </a:r>
                      <a:br/>
                      <a:r>
                        <a:t>vs猎鹰9号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3291840"/>
          <a:ext cx="53035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035040" y="1188720"/>
            <a:ext cx="1691640" cy="8229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2344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08CFF"/>
                </a:solidFill>
                <a:latin typeface="Microsoft YaHei"/>
              </a:defRPr>
            </a:pPr>
            <a:r>
              <a:t>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62763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2025年轨道</a:t>
            </a:r>
            <a:br/>
            <a:r>
              <a:t>发射次数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188720"/>
            <a:ext cx="1691640" cy="8229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2344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08CFF"/>
                </a:solidFill>
                <a:latin typeface="Microsoft YaHei"/>
              </a:defRPr>
            </a:pPr>
            <a:r>
              <a:t>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62763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内部星链</a:t>
            </a:r>
            <a:br/>
            <a:r>
              <a:t>发射任务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194560"/>
            <a:ext cx="1691640" cy="8229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24028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08CFF"/>
                </a:solidFill>
                <a:latin typeface="Microsoft YaHei"/>
              </a:defRPr>
            </a:pPr>
            <a: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63347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外部客户</a:t>
            </a:r>
            <a:br/>
            <a:r>
              <a:t>发射任务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94560"/>
            <a:ext cx="1691640" cy="8229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24028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08CFF"/>
                </a:solidFill>
                <a:latin typeface="Microsoft YaHei"/>
              </a:defRPr>
            </a:pPr>
            <a:r>
              <a:t>每2.2天1次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63347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平均发射</a:t>
            </a:r>
            <a:br/>
            <a:r>
              <a:t>节奏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200400"/>
            <a:ext cx="1691640" cy="8229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24612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08CFF"/>
                </a:solidFill>
                <a:latin typeface="Microsoft YaHei"/>
              </a:defRPr>
            </a:pPr>
            <a:r>
              <a:t>571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63931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累计助推器</a:t>
            </a:r>
            <a:br/>
            <a:r>
              <a:t>回收着陆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200400"/>
            <a:ext cx="1691640" cy="8229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324612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08CFF"/>
                </a:solidFill>
                <a:latin typeface="Microsoft YaHei"/>
              </a:defRPr>
            </a:pPr>
            <a:r>
              <a:t>&gt;80%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63931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全球发射</a:t>
            </a:r>
            <a:br/>
            <a:r>
              <a:t>市场份额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297680"/>
            <a:ext cx="5669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星舰——下一次飞跃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572000"/>
            <a:ext cx="5669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V3构型：33台猛禽3发动机，1,800万磅推力，&gt;100吨至LEO。2026年5月23日首次轨道飞行。</a:t>
            </a:r>
            <a:br/>
            <a:r>
              <a:t>• 载荷能力：每次发射部署60颗V3星链卫星（猎鹰9号仅约24颗）。每颗V3卫星提供1 Tbps吞吐量。</a:t>
            </a:r>
            <a:br/>
            <a:r>
              <a:t>• 复用目标：超重型助推器+星舰上面级的完全快速复用。轨道推进剂转移（尚未验证）是实现深空任务的关键。</a:t>
            </a:r>
            <a:br/>
            <a:r>
              <a:t>• 如成功：成本/kg或降至~$100–200/kg——比猎鹰9号再降低10倍，可能是航天史上最具颠覆性的成本革命。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S-1招股书（2026年5月）；NextBigFuture；IndexBox；维基百科猎鹰9号；CNBC。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可重复使用——决定性竞争护城河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571次助推器回收着陆、33次复用、$629/kg内部成本——没有任何竞争对手在规模上展示了可比的重复使用能力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188720"/>
          <a:ext cx="54864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1188720"/>
          <a:ext cx="5486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成本构成（复用飞行）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估算成本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占总成本%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助推器摊销 + 翻新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$100–300万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8–20%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全新第二级（唯一一次性部件）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$700–1,200万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55–65%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整流罩回收及翻新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~$25万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1–2%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推进剂（液氧+RP-1煤油）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~$25–100万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2–7%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回收作业（无人船等）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~$100–200万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7–13%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任务保障/质量审查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~$200–400万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15–27%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边际发射成本合计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~$1,100–1,500万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客户支付价格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~$7,000万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~60–70%利润率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247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可重复使用飞轮效应：更多发射 → 更多回收 → 更多数据 → 更好的复用 → 更低成本 → 更多发射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1783080" cy="4572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976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首次助推器</a:t>
            </a:r>
            <a:br/>
            <a:r>
              <a:t>陆地回收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4407408"/>
            <a:ext cx="137160" cy="381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4297680"/>
            <a:ext cx="1783080" cy="4572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4315968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2976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首次复用飞行</a:t>
            </a:r>
            <a:br/>
            <a:r>
              <a:t>助推器再发射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4407408"/>
            <a:ext cx="137160" cy="381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4297680"/>
            <a:ext cx="1783080" cy="4572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4315968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2976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第5次复用;</a:t>
            </a:r>
            <a:br/>
            <a:r>
              <a:t>载人任务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407408"/>
            <a:ext cx="137160" cy="381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97680"/>
            <a:ext cx="1783080" cy="4572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315968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2976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第15次复用;</a:t>
            </a:r>
            <a:br/>
            <a:r>
              <a:t>第200次着陆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4407408"/>
            <a:ext cx="137160" cy="381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4297680"/>
            <a:ext cx="1783080" cy="4572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315968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2976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33× 助推器复用;</a:t>
            </a:r>
            <a:br/>
            <a:r>
              <a:t>571次总着陆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4407408"/>
            <a:ext cx="137160" cy="381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0" y="4297680"/>
            <a:ext cx="1783080" cy="4572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4315968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2026+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42976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星舰快速复用;</a:t>
            </a:r>
            <a:br/>
            <a:r>
              <a:t>轨道加注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49377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103120"/>
                <a:gridCol w="210312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可重复使用指标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SpaceX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蓝色起源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火箭实验室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ULA / 波音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助推器着陆次数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571 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1（2025年11月）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0（中子火箭：计划中）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0（完全一次性）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最大复用次数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33×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0（首次复用待定）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电子号：部分（海上溅落）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不适用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整流罩复用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36×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计划中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尚未演示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不适用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翻新成本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~$100万/助推器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待定（无数据）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待定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不适用（一次性）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下一代复用目标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星舰：完全快速复用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新格伦：仅助推器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中子火箭：助推器着陆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无计划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S-1招股书（2026年5月）；NextBigFuture；Ars Technica；蓝色起源新闻稿；火箭实验室2026年Q1财报。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星链——支撑整个企业的现金引擎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$114亿营收、63% EBITDA利润率、1,030万用户——唯一在规模上实现盈利的卫星宽带星座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783080" cy="7772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1,030万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81912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用户数</a:t>
            </a:r>
            <a:br/>
            <a:r>
              <a:t>(2026年Q1)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188720"/>
            <a:ext cx="1783080" cy="7772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216152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$113.9亿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581912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FY2025</a:t>
            </a:r>
            <a:br/>
            <a:r>
              <a:t>营收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1783080" cy="7772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216152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$71.7亿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581912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FY2025</a:t>
            </a:r>
            <a:br/>
            <a:r>
              <a:t>EBITDA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1783080" cy="7772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216152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63%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581912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EBITDA</a:t>
            </a:r>
            <a:br/>
            <a:r>
              <a:t>利润率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188720"/>
            <a:ext cx="1783080" cy="7772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216152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~9,600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581912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在轨</a:t>
            </a:r>
            <a:br/>
            <a:r>
              <a:t>卫星数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1188720"/>
            <a:ext cx="1783080" cy="7772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216152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581912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B0CC"/>
                </a:solidFill>
                <a:latin typeface="Microsoft YaHei"/>
              </a:defRPr>
            </a:pPr>
            <a:r>
              <a:t>覆盖</a:t>
            </a:r>
            <a:br/>
            <a:r>
              <a:t>国家数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74320" y="2194560"/>
          <a:ext cx="97840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2023年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2024年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2025年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2026年Q1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 (Quilty)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用户数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230万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440万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890万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1,030万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1,680–2,500万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营收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~$51亿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~$76亿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$113.9亿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$32.6亿 (Q1)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$187–200亿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运营利润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~$20亿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~$20亿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$44.2亿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$11.9亿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EBITDA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~$25亿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~$38.6亿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$71.7亿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~$140亿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EBITDA利润率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~70%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月均ARPU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$99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$91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$81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$66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主动以价换量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收入结构与增长垂直领域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消费订阅：约占星链营收60%。ARPU主动下降（$99 → $66）以渗透发展中国家市场并推动用户增长。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企业与政府：约占40%且快速增长。海事通信（2026年估$19亿，+55% YoY）。航空WiFi。星盾/国防部（2026年估$32亿）。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V3卫星：每颗1 Tbps（V2为~20 Gbps）。部署需星舰——每次60颗 vs 猎鹰9号24颗。首批V3部署预计2026年下半年。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26479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手机直连卫星：计划2027年推出。无需用户终端。TAM为地球上每一部智能手机。竞争对手：AST SpaceMobile、苹果/Globalstar。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S-1招股书（2026年5月）；Quilty Space星链财务概览2026；Morningstar；Payload Space；Business Insider。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政府合同——稳定、持续增长的需求基础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国家安全航天支出正在加速——而SpaceX是这个重视可靠性胜过一切的市场中的低成本在位者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371600"/>
                <a:gridCol w="365760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合同金额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范围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竞争意义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NSSL第三阶段</a:t>
                      </a:r>
                      <a:br/>
                      <a:r>
                        <a:t>（太空军）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$59亿</a:t>
                      </a:r>
                      <a:br/>
                      <a:r>
                        <a:t>（28次任务）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FY2025–</a:t>
                      </a:r>
                      <a:br/>
                      <a:r>
                        <a:t>FY2032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国家安全发射：GPS、导弹预警、</a:t>
                      </a:r>
                      <a:br/>
                      <a:r>
                        <a:t>NRO间谍卫星。Lane 2（重型）+Lane 1。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在位者主导。ULA获19次任务$53亿。</a:t>
                      </a:r>
                      <a:br/>
                      <a:r>
                        <a:t>蓝色起源：7次$23亿。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NASA阿尔忒弥斯</a:t>
                      </a:r>
                      <a:br/>
                      <a:r>
                        <a:t>/ HLS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$30亿+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2021–</a:t>
                      </a:r>
                      <a:br/>
                      <a:r>
                        <a:t>进行中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星舰载人着陆系统用于阿尔忒弥斯</a:t>
                      </a:r>
                      <a:br/>
                      <a:r>
                        <a:t>III-V登月任务。需轨道加注。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HLS Option B唯一供应商。</a:t>
                      </a:r>
                      <a:br/>
                      <a:r>
                        <a:t>蓝色起源的蓝月是第二来源</a:t>
                      </a:r>
                      <a:br/>
                      <a:r>
                        <a:t>但成熟度较低。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星盾</a:t>
                      </a:r>
                      <a:br/>
                      <a:r>
                        <a:t>（国防部/情报界）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保密</a:t>
                      </a:r>
                      <a:br/>
                      <a:r>
                        <a:t>（估$30亿+/年）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进行中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为国防部/情报界定制的卫星平台。</a:t>
                      </a:r>
                      <a:br/>
                      <a:r>
                        <a:t>基于星链技术但经军事化改造。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扩散型LEO是五角大楼最高航天</a:t>
                      </a:r>
                      <a:br/>
                      <a:r>
                        <a:t>优先级。SpaceX是唯一具备</a:t>
                      </a:r>
                      <a:br/>
                      <a:r>
                        <a:t>实战能力的供应商。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SDA第三批次</a:t>
                      </a:r>
                      <a:br/>
                      <a:r>
                        <a:t>及扩散型LEO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多个</a:t>
                      </a:r>
                      <a:br/>
                      <a:r>
                        <a:t>合同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2024–</a:t>
                      </a:r>
                      <a:br/>
                      <a:r>
                        <a:t>进行中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太空发展局导弹预警与跟踪卫星。</a:t>
                      </a:r>
                      <a:br/>
                      <a:r>
                        <a:t>SpaceX制造卫星平台。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SDA模式青睐商业、迭代采购</a:t>
                      </a:r>
                      <a:br/>
                      <a:r>
                        <a:t>——SpaceX的天然优势。</a:t>
                      </a:r>
                      <a:br/>
                      <a:r>
                        <a:t>火箭实验室也获奖（$8.16亿）。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NASA商业补给</a:t>
                      </a:r>
                      <a:br/>
                      <a:r>
                        <a:t>与商业载人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累计</a:t>
                      </a:r>
                      <a:br/>
                      <a:r>
                        <a:t>$50亿+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2012–</a:t>
                      </a:r>
                      <a:br/>
                      <a:r>
                        <a:t>进行中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货运龙+载人龙：国际空间站补给</a:t>
                      </a:r>
                      <a:br/>
                      <a:r>
                        <a:t>与宇航员轮换。可靠性得到验证。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自2020年以来唯一美国载人运输</a:t>
                      </a:r>
                      <a:br/>
                      <a:r>
                        <a:t>供应商。波音星际线未投入运营。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为什么政府合同利好SpaceX：(1) 固定价格采购正在取代成本加成——SpaceX以固定价格起家并凭成本优势胜出。(2) 扩散型LEO架构（数百颗小卫星）需要高发射频次、低成本发射——只有SpaceX能规模化交付。(3) 在位优势自我强化：NSSL第三阶段、NASA商业载人和星盾带来的转换成本随时间推移不断累积。(4) 国家安全紧迫性：中俄反卫星威胁推动预算增长。太空军2026财年申请$295亿，较2021年$180亿大幅增长。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数据来源：美国太空军NSSL第三阶段合同（2025年4月/9月）；NASA HLS合同数据；SDA；Ars Technica；SpaceX S-1招股书。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财务概览——巨额研发投入掩盖了增长本质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$186.7亿营收（同比+29%），大规模研发投入扭曲了账面利润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0789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828800"/>
                <a:gridCol w="201168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业务板块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FY2024营收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FY2025营收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同比增速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运营利润/(亏损)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EBITDA / 关键指标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~$76亿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$113.9亿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$44.2亿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$71.7亿 / 63%利润率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发射服务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~$38亿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$40.9亿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+7.6%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($6.6亿)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星舰研发=$30亿/年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xAI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不适用（合并前）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$32亿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不可比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($63.6亿)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资本支出: $127亿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合并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~$114亿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$186.7亿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+29%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($25.9亿)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净利润: ($49.4亿); 调整后EBITDA ~$15亿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3383280"/>
          <a:ext cx="566928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3383280"/>
          <a:ext cx="5303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关键财务指标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FY2025数值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营收增速（同比）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+29%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星链占总营收比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毛利率（估，不含xAI）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~42%（星链~55%，发射~35%）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研发占营收比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~38%（$71亿，含$30亿星舰 + xAI）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资本支出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$207.4亿（含$127亿xAI基础设施）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自由现金流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深度为负（含资本支出约$150–180亿消耗）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累计亏损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$413.1亿（公司成立以来）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IPO估值区间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$1.75–2.0万亿（94x – 107x 2025 P/S）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59893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注：FY2024数据为近似值（公司当时为私有）。xAI于2026年2月合并；FY2025 xAI数据为独立口径。星舰研发计入发射服务运营亏损。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IPO招股书（2026年5月）；Futunn/Reuters分析；Morningstar；PitchBook。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竞争格局——一个独大的市场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SpaceX在发射、宽带和国防三个领域同时竞争——但没有任何一个竞争对手在超过一个层面运营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228600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SpaceX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蓝色起源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火箭实验室 (RKLB)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ULA / 波音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营收（航天业务）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$186.7亿（FY2025）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估&lt;$5亿（私有）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$6.018亿（FY2025）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~$272亿 BDS* / ~$10–20亿 ULA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发射频次（2025）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165（全部火箭）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2（新格伦）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21（电子号）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5（4枚Atlas, 1枚Vulcan）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可重复使用性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33× 助推器 | 571次着陆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1次助推器回收（2025年11月）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电子号部分回收 | 中子火箭计划中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无——完全一次性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单次发射成本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~$7,000万 (猎鹰9号) | ~$1,100–1,500万内部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~$6,000–7,000万（新格伦）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$850万 (电子号) | ~$5,000万（中子·待定）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$1–2亿（Vulcan）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垂直整合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85–90% 自研制造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BE-4发动机+新格伦自研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通过并购扩张（Mynaric, Motive）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仅组装 | BE-4来自蓝色起源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消费宽带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星链：1,030万用户 | $114亿营收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无（Kuiper是亚马逊的）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政府订单储备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NSSL：28次任务/$59亿</a:t>
                      </a:r>
                      <a:br/>
                      <a:r>
                        <a:t>NASA：$30亿+/阿尔忒弥斯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NSSL：7次任务/$23亿</a:t>
                      </a:r>
                      <a:br/>
                      <a:r>
                        <a:t>NASA：$34亿蓝月着陆器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SDA：$8.16亿第三批次</a:t>
                      </a:r>
                      <a:br/>
                      <a:r>
                        <a:t>HASTE：高超音速测试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NSSL：19次任务/$53亿</a:t>
                      </a:r>
                      <a:br/>
                      <a:r>
                        <a:t>Kuiper：47次发射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财务状况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仅星链盈利</a:t>
                      </a:r>
                      <a:br/>
                      <a:r>
                        <a:t>EBITDA支撑研发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贝索斯自筹（估$100–200亿）</a:t>
                      </a:r>
                      <a:br/>
                      <a:r>
                        <a:t>正考虑外部融资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接近EBITDA盈亏平衡</a:t>
                      </a:r>
                      <a:br/>
                      <a:r>
                        <a:t>$14.8亿现金 | $22亿订单储备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BDS ~盈亏平衡 | 波音$410亿债务</a:t>
                      </a:r>
                      <a:br/>
                      <a:r>
                        <a:t>ULA东家正探索出售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关键风险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星舰执行 | xAI现金消耗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发射频次（18个月仅3次）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中子火箭推迟至2026Q4之后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一次性架构 | 依赖BE-4发动机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1264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* 波音防务、太空与安全（$272亿）绝大部分是军用飞机和导弹。航天业务（星际线、SLS、卫星）不到BDS营收的15%。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数据来源：公司财报；SEC EDGAR；SpaceX S-1招股书（2026年5月）；火箭实验室2026年Q1财报；ULA新闻稿；Ars Technica NSSL定价分析。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竞争定位——多因素分析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SpaceX在所有六个维度上接近满分。没有任何竞争对手在两个以上因素上与之接近。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18872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188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评分方法（1–10分制）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可重复使用性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55448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已演示的助推器/飞船复用、翻新成本、飞行验证频次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01168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发射频次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01168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年度轨道发射次数；制造与运营产能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46888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成本竞争力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46888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至LEO每公斤成本；商业与政府市场的相对定价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92608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政府关系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92608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NSSL、NASA、SDA合同基础；安全许可基础设施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38328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技术护城河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38328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专有发动机、航电、卫星平台；IP可防御性；研发管线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84048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垂直整合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84048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自研制造占比；从发动机到终端用户的价值链控制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572000"/>
            <a:ext cx="47548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关键结论：</a:t>
            </a:r>
            <a:br/>
            <a:br/>
            <a:r>
              <a:t>• SpaceX是唯一在所有六个维度上接近满分的竞争者。其最低分（政府关系9/10）反映波音在传统政府关系上更深厚的积淀——但SpaceX趋势向上，波音持平。</a:t>
            </a:r>
            <a:br/>
            <a:br/>
            <a:r>
              <a:t>• 火箭实验室是多因素评分第二名，但营收不到SpaceX的1/30。卓越的运营商，但规模太小。</a:t>
            </a:r>
            <a:br/>
            <a:br/>
            <a:r>
              <a:t>• 蓝色起源拥有可靠的技术（BE-4、新格伦），但发射频次薄弱。技术能力与运营执行力之间的差距是同业中最大的。</a:t>
            </a:r>
            <a:br/>
            <a:br/>
            <a:r>
              <a:t>• 波音和ULA仅在政府关系维度得分较高——它们是传统供应商，在成本、复用或发射频次上无竞争力。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SWOT分析——主导地位，集中风险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SpaceX在基本面方面具有压倒性优势——但薄弱环节是真实且相互关联的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3474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53035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优势 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669280" cy="2423160"/>
          </a:xfrm>
          <a:prstGeom prst="rect">
            <a:avLst/>
          </a:prstGeom>
          <a:ln w="12700">
            <a:solidFill>
              <a:srgbClr val="0B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S1. 可重复使用护城河——571次着陆、33×助推器复用、~$100万翻新成本。领先任何竞争对手5–10年。每次飞行累积的数据优势持续扩大。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66544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S2. 星链是自我造血的现金引擎——$114亿营收、63% EBITDA利润率、1,030万用户。支撑星舰研发（$30亿/年）并抵消xAI亏损。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05456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S3. 垂直整合——85–90%自研制造（发动机、航电、卫星、用户终端）。无关键供应商依赖。在每个价值链环节获取利润。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44368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S4. 发射频次主导——2025年165次发射（全球&gt;80%份额）。在此规模下，发射是一门物流运营生意，在位优势持续累积。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8328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S5. 人才与品牌磁吸效应——航空航天领域最具吸引力的雇主。马斯克个人品牌驱动资本获取、客户兴趣和人才招聘。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6692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207008"/>
            <a:ext cx="53035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劣势 (W)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36192"/>
            <a:ext cx="5669280" cy="2423160"/>
          </a:xfrm>
          <a:prstGeom prst="rect">
            <a:avLst/>
          </a:prstGeom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627632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W1. 星舰执行风险——&gt;$150亿投入，轨道加注未经验证，V3是近乎全新的设计。重大失败将使IPO叙事崩溃并推迟所有增长计划。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66544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W2. 尽管星链盈利但仍整体亏损——2025年净亏损$49.4亿。xAI每收入$1烧掉$2。公司依赖单一板块（星链）提供现金流。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505456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W3. 关键人物集中风险——马斯克同时运营SpaceX、特斯拉、xAI、Twitter/X、DOGE。IPO后持有85.1%投票权。分散风险真实且无法对冲。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44368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W4. 星链ARPU结构性下降——$99（2023）→ $66（2026Q1）。用户增长可能无法完全抵消发展中市场的单位经济恶化。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8328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W5. 监管摩擦——ITU频谱协调争议、中俄市场被封、FCC/NOAA/FAA监管障碍、马斯克政治极化带来的政策风险。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69080"/>
            <a:ext cx="5669280" cy="347472"/>
          </a:xfrm>
          <a:prstGeom prst="rect">
            <a:avLst/>
          </a:prstGeom>
          <a:solidFill>
            <a:srgbClr val="00B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87368"/>
            <a:ext cx="53035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机会 (O)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16552"/>
            <a:ext cx="5669280" cy="2423160"/>
          </a:xfrm>
          <a:prstGeom prst="rect">
            <a:avLst/>
          </a:prstGeom>
          <a:ln w="12700">
            <a:solidFill>
              <a:srgbClr val="00B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507992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O1. 星舰商业化（2026H2）——V3星链部署（60颗/次，每颗1 Tbps）。手机直连卫星2027年。轨道AI计算——$22.7万亿TAM叙事。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946904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O2. 全球宽带未覆盖人群——26亿未联网人口。海事（2026年$19亿）、航空、国防垂直领域是高ARPU采用者，签有长期合同。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385816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O3. 国家安全需求——扩散型LEO架构（SDA）、金穹导弹防御。乌克兰/台湾冲突驱动对弹性空间网络的紧迫需求。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824728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O4. NASA阿尔忒弥斯与深空——HLS月球着陆器、火星架构。轨道加注解锁地月与星际市场。NASA是深空领域的忠实客户。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26364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O5. IPO $750亿资本弹药——融资规模超过所有竞争对手市值之和。加速星舰、星链V3和xAI基础设施建设。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069080"/>
            <a:ext cx="5669280" cy="347472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087368"/>
            <a:ext cx="53035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威胁 (T)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416552"/>
            <a:ext cx="5669280" cy="2423160"/>
          </a:xfrm>
          <a:prstGeom prst="rect">
            <a:avLst/>
          </a:prstGeom>
          <a:ln w="1270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507992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T1. 亚马逊Kuiper——3,000+颗卫星星座正在部署中。亚马逊拥有消费渠道（Prime）、AWS云整合和无限资本。最具威胁的宽带竞争对手。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946904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T2. 蓝色起源新格伦产能爬坡——若新格伦2028年实现20+次/年发射，将挑战猎鹰9号。若持续2–5次/年，威胁消退。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385816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T3. 中子火箭入市（2027+）——火箭实验室的中子火箭$5,000万/次将是首个可信的中型运力价格竞争者。规模尚小，但在特定市场危险。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824728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T4. 中国国有竞争对手——中科宇航、蓝箭航天、星河动力目标2026–27年实现可重复使用。国家资助，不受利润约束。ITAR将SpaceX排除在中国市场之外。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626364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A1A1A"/>
                </a:solidFill>
                <a:latin typeface="Microsoft YaHei"/>
              </a:defRPr>
            </a:pPr>
            <a:r>
              <a:t>T5. 马斯克治理/政治风险——IPO后股东维权可能挑战85.1%投票权。FCC频谱争端。政治阻力影响政府合同持续性。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护城河评估——宽阔且在持续拓宽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SpaceX的竞争优势持久、复合、且相互强化——是真正经济护城河的标志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155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1828800"/>
                <a:gridCol w="201168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护城河类型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SpaceX优势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强度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持久性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关键薄弱点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网络效应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星链：164个国家1,030万用户。更多用户→</a:t>
                      </a:r>
                      <a:br/>
                      <a:r>
                        <a:t>更多收入→更多卫星→更好覆盖→更多用户。</a:t>
                      </a:r>
                      <a:br/>
                      <a:r>
                        <a:t>跨边效应：海事/航空/国防是粘性B2B关系。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  <a:br/>
                      <a:r>
                        <a:t>●●●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  <a:br/>
                      <a:r>
                        <a:t>(20年+)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Kuiper + 亚马逊</a:t>
                      </a:r>
                      <a:br/>
                      <a:r>
                        <a:t>渠道可能分流</a:t>
                      </a:r>
                      <a:br/>
                      <a:r>
                        <a:t>市场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转换成本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政府合同（NSSL、NASA）为多年期，采购摩擦高。</a:t>
                      </a:r>
                      <a:br/>
                      <a:r>
                        <a:t>星链消费者：转换成本低但留存率92%+。企业：</a:t>
                      </a:r>
                      <a:br/>
                      <a:r>
                        <a:t>集成终端和服务合同。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  <a:br/>
                      <a:r>
                        <a:t>●●○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  <a:br/>
                      <a:r>
                        <a:t>(10年+)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消费宽带价格竞争；</a:t>
                      </a:r>
                      <a:br/>
                      <a:r>
                        <a:t>Kuiper与亚马逊</a:t>
                      </a:r>
                      <a:br/>
                      <a:r>
                        <a:t>Prime捆绑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规模经济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165次/年发射将固定成本摊薄在巨大体量上。</a:t>
                      </a:r>
                      <a:br/>
                      <a:r>
                        <a:t>9,600颗在轨卫星——每颗边际卫星成本更低。</a:t>
                      </a:r>
                      <a:br/>
                      <a:r>
                        <a:t>任何竞争对手需50+次/年发射才能在成本上竞争。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  <a:br/>
                      <a:r>
                        <a:t>●●●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  <a:br/>
                      <a:r>
                        <a:t>(15年+)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星舰失败将限制</a:t>
                      </a:r>
                      <a:br/>
                      <a:r>
                        <a:t>发射频次；规模扩张</a:t>
                      </a:r>
                      <a:br/>
                      <a:r>
                        <a:t>中的供应链瓶颈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无形资产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品牌：SpaceX在公众心中=航天。专有飞行数据：</a:t>
                      </a:r>
                      <a:br/>
                      <a:r>
                        <a:t>571次着陆的遥测数据。猛禽发动机IP。ITU</a:t>
                      </a:r>
                      <a:br/>
                      <a:r>
                        <a:t>频谱优先权。NSSL/NASA机构信任。马斯克光环。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  <a:br/>
                      <a:r>
                        <a:t>●●●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  <a:br/>
                      <a:r>
                        <a:t>(10年+)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马斯克声誉风险；</a:t>
                      </a:r>
                      <a:br/>
                      <a:r>
                        <a:t>IP盗窃（中国）；</a:t>
                      </a:r>
                      <a:br/>
                      <a:r>
                        <a:t>ITU频谱挑战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11247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四大复合型优势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789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1. 可重复使用飞轮效应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7899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更多发射 → 更多助推器回收 → 更多飞行数据 → 更好的复用 → 更低成本 → 更多发射。已完成571次着陆；次优竞争对手（蓝色起源）仅有1次。这不是追赶——是不同维度的竞争。每次成功着陆都在拉大数据优势。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59"/>
            <a:ext cx="10789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2. 通过星链实现自我造血研发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39"/>
            <a:ext cx="107899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星链$71.7亿EBITDA支撑星舰研发（$30亿/年）并部分抵消xAI亏损。没有任何竞争对手拥有产生现金的服务业务来支持下一代研发。蓝色起源消耗贝索斯个人资本。火箭实验室消耗投资者资金。波音的航天研发需与商用航空争夺稀缺的企业资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79"/>
            <a:ext cx="10789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3. 全栈控制 = 利润获取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59"/>
            <a:ext cx="107899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SpaceX制造发动机（猛禽/梅林）、运载火箭（猎鹰/星舰）、卫星平台（星链V2/V3）、用户终端和地面网络。这消除了供应商利润叠加和协调延迟。唯一主要外部依赖是推进剂。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789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8CFF"/>
                </a:solidFill>
                <a:latin typeface="Microsoft YaHei"/>
              </a:defRPr>
            </a:pPr>
            <a:r>
              <a:t>4. IPO使领先优势不可撼动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7899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$750亿IPO融资超过蓝色起源（$500–1,000亿）和火箭实验室（$780亿市值）的合计估值。如按目标估值执行，SpaceX将获得一个在未来十年内使竞争追赶几乎不可能的资本优势。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主要风险与缓释措施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风险清单真实且集中——但每项风险都有可信的缓释手段，维持牛市逻辑的可行性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08813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188720"/>
                <a:gridCol w="1188720"/>
                <a:gridCol w="228600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风险类别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具体风险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严重性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概率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若发生的影响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缓释/对冲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</a:t>
                      </a:r>
                      <a:br/>
                      <a:r>
                        <a:t>执行风险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V3快速复用失败；轨道加注</a:t>
                      </a:r>
                      <a:br/>
                      <a:r>
                        <a:t>未演示；热防护罩耐久性</a:t>
                      </a:r>
                      <a:br/>
                      <a: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致命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20–30%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估值腰斩50%+。V3星链、</a:t>
                      </a:r>
                      <a:br/>
                      <a:r>
                        <a:t>手机直连、轨道AI和阿尔</a:t>
                      </a:r>
                      <a:br/>
                      <a:r>
                        <a:t>忒弥斯均依赖星舰成功。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猎鹰9号/重型持续运营并保持</a:t>
                      </a:r>
                      <a:br/>
                      <a:r>
                        <a:t>主导。星链V2仍可部署。</a:t>
                      </a:r>
                      <a:br/>
                      <a:r>
                        <a:t>阿尔忒弥斯可用猎鹰变体。</a:t>
                      </a:r>
                      <a:br/>
                      <a:r>
                        <a:t>较低估值下IPO仍可行。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竞争</a:t>
                      </a:r>
                      <a:br/>
                      <a:r>
                        <a:t>(Kuiper/中子)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Kuiper部署3,000+颗卫星；</a:t>
                      </a:r>
                      <a:br/>
                      <a:r>
                        <a:t>中子火箭以$5,000万进入</a:t>
                      </a:r>
                      <a:br/>
                      <a:r>
                        <a:t>中型市场；中国研发可复用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30–40%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星链定价承压。发射市场</a:t>
                      </a:r>
                      <a:br/>
                      <a:r>
                        <a:t>份额从&gt;80%下滑。</a:t>
                      </a:r>
                      <a:br/>
                      <a:r>
                        <a:t>利润率压缩。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星链有5年先发优势。</a:t>
                      </a:r>
                      <a:br/>
                      <a:r>
                        <a:t>Kuiper距离消费服务还需</a:t>
                      </a:r>
                      <a:br/>
                      <a:r>
                        <a:t>数年。SpaceX成本优势即使</a:t>
                      </a:r>
                      <a:br/>
                      <a:r>
                        <a:t>面临竞争仍可持续。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关键人物/</a:t>
                      </a:r>
                      <a:br/>
                      <a:r>
                        <a:t>治理风险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马斯克分心、健康或法律；</a:t>
                      </a:r>
                      <a:br/>
                      <a:r>
                        <a:t>85.1%投票权被挑战；</a:t>
                      </a:r>
                      <a:br/>
                      <a:r>
                        <a:t>股东维权行动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15–20%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领导力真空。战略漂移。</a:t>
                      </a:r>
                      <a:br/>
                      <a:r>
                        <a:t>公开市场对治理结构</a:t>
                      </a:r>
                      <a:br/>
                      <a:r>
                        <a:t>折价10–20%。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Gwynne Shotwell是久经考验的</a:t>
                      </a:r>
                      <a:br/>
                      <a:r>
                        <a:t>COO。深厚工程领导层储备。</a:t>
                      </a:r>
                      <a:br/>
                      <a:r>
                        <a:t>IPO后马斯克参与度或实际</a:t>
                      </a:r>
                      <a:br/>
                      <a:r>
                        <a:t>降低（成熟企业）。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xAI现金</a:t>
                      </a:r>
                      <a:br/>
                      <a:r>
                        <a:t>消耗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xAI亏损加速超出星链</a:t>
                      </a:r>
                      <a:br/>
                      <a:r>
                        <a:t>EBITDA承受能力；</a:t>
                      </a:r>
                      <a:br/>
                      <a:r>
                        <a:t>Anthropic取消（90天条款）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25–35%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合并亏损迫使融资。股权</a:t>
                      </a:r>
                      <a:br/>
                      <a:r>
                        <a:t>稀释。IPO估值下调。</a:t>
                      </a:r>
                      <a:br/>
                      <a:r>
                        <a:t>分散核心航天业务精力。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xAI结构上为独立实体。</a:t>
                      </a:r>
                      <a:br/>
                      <a:r>
                        <a:t>Anthropic合同3年$450亿。</a:t>
                      </a:r>
                      <a:br/>
                      <a:r>
                        <a:t>即使取消，xAI可被剥离或</a:t>
                      </a:r>
                      <a:br/>
                      <a:r>
                        <a:t>重组而不危及SpaceX。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资本密集</a:t>
                      </a:r>
                      <a:br/>
                      <a:r>
                        <a:t>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星舰基础设施规模化：</a:t>
                      </a:r>
                      <a:br/>
                      <a:r>
                        <a:t>每次发射需244辆LNG槽车</a:t>
                      </a:r>
                      <a:br/>
                      <a:r>
                        <a:t>+100万加仑水用于声学抑制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40–50%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自由现金流延迟。IPO资金</a:t>
                      </a:r>
                      <a:br/>
                      <a:r>
                        <a:t>被基础设施消耗。</a:t>
                      </a:r>
                      <a:br/>
                      <a:r>
                        <a:t>折旧压缩利润率。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$750亿IPO融资专门用于基础</a:t>
                      </a:r>
                      <a:br/>
                      <a:r>
                        <a:t>设施。SpaceX有资本高效建设</a:t>
                      </a:r>
                      <a:br/>
                      <a:r>
                        <a:t>记录（Boca Chica花费不到</a:t>
                      </a:r>
                      <a:br/>
                      <a:r>
                        <a:t>$10亿建成）。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星链ARPU/</a:t>
                      </a:r>
                      <a:br/>
                      <a:r>
                        <a:t>集中度风险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ARPU加速下降（$66→</a:t>
                      </a:r>
                      <a:br/>
                      <a:r>
                        <a:t>$50）。星链=61%营收和</a:t>
                      </a:r>
                      <a:br/>
                      <a:r>
                        <a:t>几乎全部利润。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25–35%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单位经济恶化。用户增长</a:t>
                      </a:r>
                      <a:br/>
                      <a:r>
                        <a:t>无法抵消价格下降。</a:t>
                      </a:r>
                      <a:br/>
                      <a:r>
                        <a:t>营收集中度风险。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企业/政府占比在增长（40%</a:t>
                      </a:r>
                      <a:br/>
                      <a:r>
                        <a:t>营收）且ARPU更高。手机</a:t>
                      </a:r>
                      <a:br/>
                      <a:r>
                        <a:t>直连卫星开辟新TAM。V3</a:t>
                      </a:r>
                      <a:br/>
                      <a:r>
                        <a:t>卫星大幅降低单比特成本。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监管/</a:t>
                      </a:r>
                      <a:br/>
                      <a:r>
                        <a:t>地缘政治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FCC频谱争议；ITAR出口</a:t>
                      </a:r>
                      <a:br/>
                      <a:r>
                        <a:t>限制；中俄市场被封；</a:t>
                      </a:r>
                      <a:br/>
                      <a:r>
                        <a:t>马斯克政治风险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25–35%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国际推广放缓。中国市场</a:t>
                      </a:r>
                      <a:br/>
                      <a:r>
                        <a:t>永久关闭。</a:t>
                      </a:r>
                      <a:br/>
                      <a:r>
                        <a:t>监管成本/合规负担。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频谱先发优势。美国政府是</a:t>
                      </a:r>
                      <a:br/>
                      <a:r>
                        <a:t>核心客户。国际协议已覆盖</a:t>
                      </a:r>
                      <a:br/>
                      <a:r>
                        <a:t>164个国家。多元化布局。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08076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A1A1A"/>
                </a:solidFill>
                <a:latin typeface="Microsoft YaHei"/>
              </a:defRPr>
            </a:pPr>
            <a:r>
              <a:t>核心结论：风险清单真实存在，但每项风险都有可信的缓释手段。业务组合（星链+发射+xAI）意味着没有单点故障——只有星舰失败会真正颠覆投资逻辑。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长期愿景——星舰、火星与轨道AI计算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$1.75万亿估值不是关于2025年的财务数据——而是押注三种变革性技术的融合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星舰：航天的航空模式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完全且快速可重复使用的运载火箭——助推器+上面级均复用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目标：像航空公司一样运营（每枚火箭数百次飞行，最小化翻新）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载荷：&gt;100吨至LEO，使全新任务类别成为可能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V3星链部署：每次发射60颗卫星（猎鹰9号仅24颗）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轨道加注：太空中的加油站——解锁月球、火星及以远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如成功：至LEO成本降至约$100–200/kg（当前约$2,700/kg）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市场扩张：在$100/kg级别，全新产业在轨道上变得经济可行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3657600" cy="457200"/>
          </a:xfrm>
          <a:prstGeom prst="rect">
            <a:avLst/>
          </a:prstGeom>
          <a:solidFill>
            <a:srgbClr val="00B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07008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星链：全球最大互联网服务商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7373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目标：全球4,000万+用户——从当前1,030万起步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945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海事通信：仅2026年就有$19亿营收机会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6517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航空：为所有航空公司提供空中WiFi（达美、夏威夷航空已签约）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1089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手机直连卫星：无需用户终端；每部手机都是卫星电话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5661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国防：星盾是五角大楼首选的扩散型LEO平台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233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V3经济性：每颗卫星1 Tbps，单比特成本大幅降低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4805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终局：星链成为全球宽带公用事业——像水和电一样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18872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207008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轨道AI计算：最大变数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7373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xAI合并论点：在轨道上进行AI训练/推理，由无限太阳能驱动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1945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特定工作负载的零延迟优势（金融交易、自主系统）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6517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Colossus超级计算机是地面原型；轨道版本将由星舰部署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1089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Anthropic合同：$12.5亿/月证明AI超大规模需求真实存在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5661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风险：未经验证的技术；依赖星舰；AI资本支出周期或转向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40233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如成功：打开$22.7万亿TAM（SpaceX在S-1申报中的自估）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480560"/>
            <a:ext cx="3383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1A"/>
                </a:solidFill>
                <a:latin typeface="Microsoft YaHei"/>
              </a:defRPr>
            </a:pPr>
            <a:r>
              <a:t>• 如失败：xAI可重组/剥离；不会破坏核心投资逻辑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212080"/>
            <a:ext cx="11612880" cy="109728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30352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融合逻辑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SpaceX的长期价值主张是三种技术相互强化的融合：星舰提供低成本运输，星链提供持续性收入和客户基础，轨道AI计算提供下一个增长引擎。这不是三个独立的业务——而是一个垂直整合的技术栈，其中每一层都使其他层更有价值。$1.75万亿IPO估值是对这一融合在未来5–10年内发生的押注。如果实现了，SpaceX可能成为世界上最有价值的公司。如果没有实现，仅星链作为独立宽带公用事业的价值约为$5,000–8,000亿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IPO概览与估值背景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以$1.75–2.0万亿估值，SpaceX将成为历史上最大规模IPO——定价包含了三大业务线全部完美的预期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0972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28600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IPO详情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估值背景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参考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预计上市日期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~2026年6月12日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交易代码/交易所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SPCX / NASDAQ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目标估值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$1.75–2.0万亿美元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P/S倍数（2025年）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~94–107×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目标融资规模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~$750亿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史上最大IPO，约3×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沙特阿美: $256亿 (2019)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投票权（IPO后）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马斯克：85.1%（B类股，10票）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双层股权结构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Meta、Google有先例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2025年营收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$186.7亿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$1.75T对应P/S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~94×（vs SaaS中位数~8–10×）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2025年净亏损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($49.4亿)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任何利润指标均未盈利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以增长换利润的投资逻辑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星链2025 EBITDA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$71.7亿（63%利润率）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$1.75T对应EV/EBITDA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~244×（vs 电信中位数~6–8×）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6616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估值敏感性——定价中包含了什么？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3840480"/>
          <a:ext cx="9601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情景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星链用户（2028E）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星链EBITDA（2028E）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隐含EV/EBITDA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隐含估值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Damodaran DCF（基础）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2,000万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~$150亿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~81×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~$1.22万亿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IPO中点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2,500万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~$180亿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~97×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$1.75万亿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牛市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4,000万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~$300亿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~83×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$2.5万亿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熊市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1,500万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~$100亿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~50×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$5,000亿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94960"/>
            <a:ext cx="11247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募集资金用途（据S-1招股书）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星舰基础设施与制造规模化——Boca Chica、卡纳维拉尔角及额外发射场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星链V3卫星生产与部署——资金密集型星座扩展至30,000+颗卫星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72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xAI / Colossus超级计算机扩展——GPU集群、数据中心建设、轨道计算研发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972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一般企业用途——营运资金、潜在收购、债务偿还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• 现有股东流动性——预计部分为二次发行（员工/早期投资者流动性）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IPO招股书（2026年5月）；Reuters；PitchBook；Damodaran估值分析；Morningstar。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投资情景——牛市 / 基础 / 熊市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0BB"/>
                </a:solidFill>
                <a:latin typeface="Microsoft YaHei"/>
              </a:defRPr>
            </a:pPr>
            <a:r>
              <a:t>$1.75万亿IPO估值包含的基础情景需要近乎完美执行。牛市与熊市之间的估值差达$2.5万亿。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4114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11247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牛市  •  概率30%  •  2028E估值：$2.5–3.0万亿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▲ 星舰V3实现快速、可重复复用——2028年达50+次/年发射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▲ 星链全球用户增长至4,000万+；2028年EBITDA超$300亿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▲ 轨道AI计算成为实质性业务；Anthropic合同以改善条款续签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▲ Kuiper规模化困难（ULA发射频次受限）；中子火箭市场影响有限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2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▲ IPO资金高效部署；基础设施提前于需求规模化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▲ 上行催化剂：手机直连卫星开辟$500亿+增量TAM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1161288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44952"/>
            <a:ext cx="11247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基础情景  •  概率50%  •  2028E估值：$1.5–2.0万亿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► 星舰实现部分复用（仅助推器，未实现上面级）；加注成功但推迟至2027–28年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► 星链用户达2,000–2,500万；2028年EBITDA $150–180亿；利润率稳定约55%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► Kuiper部署1,000+颗卫星；中子火箭进入中型市场——价格竞争出现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2044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► xAI亏损收窄但仍拖累合并盈利；Anthropic合同续签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0332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► 发射市场份额从&gt;80%降至~65–70%，因竞争对手逐步（缓慢）上量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8620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► 估值基本持平IPO价格——增长抵消估值倍数压缩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46320"/>
            <a:ext cx="11612880" cy="41148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73752"/>
            <a:ext cx="11247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熊市  •  概率20%  •  2028E估值：$5,000–8,000亿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▼ 星舰V3未能展示可靠的快速复用；项目重置或严重延迟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3212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▼ 星链增长停滞在1,500万用户；ARPU加速下降至$50以下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▼ Kuiper + Lightspeed + 中国LEO宽带引发卫星互联网价格战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34924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▼ xAI Anthropic合同取消（90天条款）；AI板块需数十亿美元重组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53212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▼ 治理危机：马斯克分散精力导致高管离职或股东反叛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715000"/>
            <a:ext cx="55778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▼ 估值由星链独立价值驱动（作为宽带公用事业值$5,000–8,000亿）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8CFF"/>
                </a:solidFill>
                <a:latin typeface="Microsoft YaHei"/>
              </a:defRPr>
            </a:pPr>
            <a:r>
              <a:t>关键观察信号：2026年Q4前星舰V3的运行节奏是最重要的近期催化剂。若V3星链部署如期开启，牛市逻辑获得支撑。若推迟至2027年上半年以后，基础情景向熊市偏移。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核心结论与未来催化剂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8CFF"/>
                </a:solidFill>
                <a:latin typeface="Microsoft YaHei"/>
              </a:defRPr>
            </a:pPr>
            <a:r>
              <a:t>SpaceX是无可争议的领导者——且差距仍在扩大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可重复使用（571次着陆、33×复用、$629/kg内部成本）是任何竞争对手都未能可信挑战的护城河。星链（$114亿营收、63% EBITDA利润率）是自我造血的引擎，支撑星舰并抵消xAI亏损。没有任何其他竞争对手拥有此飞轮。问题不是SpaceX是否主导——而是这种主导地位在$1.75万亿估值下是否合理定价。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8CFF"/>
                </a:solidFill>
                <a:latin typeface="Microsoft YaHei"/>
              </a:defRPr>
            </a:pPr>
            <a:r>
              <a:t>IPO是决定性事件——估值要求完美执行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~94倍2025年P/S意味着市场同时定价了星舰成功、4,000万+星链用户和轨道AI计算。牛市情景（$2.5–3.0万亿）需要三者全部兑现。熊市情景（$5,000–8,000亿）仅需一个重大失望。基础情景（$1.5–2.0万亿）基本持平IPO——多年执行换来零回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8CFF"/>
                </a:solidFill>
                <a:latin typeface="Microsoft YaHei"/>
              </a:defRPr>
            </a:pPr>
            <a:r>
              <a:t>竞争对手真实存在但处于结构性劣势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蓝色起源资金雄厚但没有发射频次。火箭实验室管理卓越但规模极小。ULA完全一次性且成本上升。波音的航天业务处于重症监护。Kuiper是对星链最可信的威胁——但亚马逊才是竞争者，不是蓝色起源。中国国有发射力量是更长期风险（2028+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8CFF"/>
                </a:solidFill>
                <a:latin typeface="Microsoft YaHei"/>
              </a:defRPr>
            </a:pPr>
            <a:r>
              <a:t>风险/回报呈二元化——这是信念型投资，不是指数配置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到2028年牛市与熊市之间$2.5万亿的价差对于如此规模的公司来说极为罕见。关键决策：以什么IPO价格买入才能使风险/回报具有吸引力？低于$1.5万亿，牛市提供真实上行空间。高于$2.0万亿，熊市似乎只是时间问题。在这两个水平之间，取决于你对星舰的信念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关键催化剂——2026 /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502920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• 2026年6月：SpaceX IPO定价（SPCX）——决定性事件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502920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• 2026下半年：星舰V3星链部署启动——决定性观察信号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502920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• 2026年Q3：IPO后首份季报（2026年Q2实际数据）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502920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• 2026年Q4：火箭实验室中子火箭首飞——竞争影响评估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502920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• 2026年持续：Kuiper卫星部署节奏——星链首个真正竞争对手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80760"/>
            <a:ext cx="502920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• 2027年：星舰手机直连卫星服务推出——全新TAM开启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502920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• 2027年：蓝色起源新格伦发射频次检验——5次还是20次/年？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502920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• 2027年：Anthropic xAI合同续签决定——xAI生存能力信号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66360"/>
            <a:ext cx="54864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556677"/>
                </a:solidFill>
                <a:latin typeface="Microsoft YaHei"/>
              </a:defRPr>
            </a:pPr>
            <a:r>
              <a:t>免责声明：本分析仅供信息参考和教育</a:t>
            </a:r>
            <a:br/>
            <a:r>
              <a:t>目的，不构成投资建议、推荐或买卖任</a:t>
            </a:r>
            <a:br/>
            <a:r>
              <a:t>何证券的要约。SpaceX尚未完成IPO。</a:t>
            </a:r>
            <a:br/>
            <a:r>
              <a:t>所有估值情景均为说明性分析，基于</a:t>
            </a:r>
            <a:br/>
            <a:r>
              <a:t>S-1申报文件和行业研究中公开可获取</a:t>
            </a:r>
            <a:br/>
            <a:r>
              <a:t>的信息。过往业绩不代表未来表现。</a:t>
            </a:r>
            <a:br/>
            <a:r>
              <a:t>投资有风险，决策须谨慎。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