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wenfenggithub/ClaudeCodeClas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E6E73"/>
                </a:solidFill>
                <a:latin typeface="PingFang SC"/>
              </a:rPr>
              <a:t>CLAUDE CODE · 零基础 AI 编程课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D1D1F"/>
                </a:solidFill>
                <a:latin typeface="PingFang SC"/>
              </a:rPr>
              <a:t>七节课，</a:t>
            </a:r>
            <a:r>
              <a:rPr sz="3400" b="1">
                <a:solidFill>
                  <a:srgbClr val="0071E3"/>
                </a:solidFill>
                <a:latin typeface="PingFang SC"/>
              </a:rPr>
              <a:t>从“哇”到能上线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E73"/>
                </a:solidFill>
                <a:latin typeface="PingFang SC"/>
              </a:rPr>
              <a:t>面向零基础成年人的 AI 编程实战课 —— 你需要的不是写代码，而是学会指挥 AI。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1284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23225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1635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"哇"时刻 + 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5526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见证 AI 把想法变网页，装好开发环境。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6674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3B30"/>
                </a:solidFill>
                <a:latin typeface="PingFang SC"/>
              </a:rPr>
              <a:t>点燃 · 起步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221284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3411" y="23225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8275" y="281635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AI 思维模型 + 初次动手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8275" y="325526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任务书 → 生成 → 评估 → 优化的核心循环。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275" y="366674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9500"/>
                </a:solidFill>
                <a:latin typeface="PingFang SC"/>
              </a:rPr>
              <a:t>核心循环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221284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1879" y="23225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281635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Harness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325526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给 AI 装"缰绳"：用引导与反馈保稳定。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743" y="366674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8A745"/>
                </a:solidFill>
                <a:latin typeface="PingFang SC"/>
              </a:rPr>
              <a:t>引导 · 反馈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331" y="221284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347" y="23225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211" y="281635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客户端、服务器与联网应用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211" y="325526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从纯 HTML 走向真正的联网 Web 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366674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071E3"/>
                </a:solidFill>
                <a:latin typeface="PingFang SC"/>
              </a:rPr>
              <a:t>Web 应用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2452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" y="43342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AF5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8280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Claude Code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26694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为 AI 打造可复用的"技能"，做得更专业。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7842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F52DE"/>
                </a:solidFill>
                <a:latin typeface="PingFang SC"/>
              </a:rPr>
              <a:t>进阶能力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95395" y="422452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23411" y="43342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8275" y="48280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AI 数据分析与可视化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8275" y="526694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从数据里找答案，把答案用图表讲清楚。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8275" y="567842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AC8FA"/>
                </a:solidFill>
                <a:latin typeface="PingFang SC"/>
              </a:rPr>
              <a:t>数据 · 图表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863" y="422452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1879" y="43342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743" y="48280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PingFang SC"/>
              </a:rPr>
              <a:t>迁移到 Supabase 数据库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6743" y="5266943"/>
            <a:ext cx="22066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E6E73"/>
                </a:solidFill>
                <a:latin typeface="PingFang SC"/>
              </a:rPr>
              <a:t>从 JSON 文件升级到云数据库，可上线。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6743" y="5678424"/>
            <a:ext cx="2206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2D55"/>
                </a:solidFill>
                <a:latin typeface="PingFang SC"/>
              </a:rPr>
              <a:t>数据库 · 上线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331" y="4224528"/>
            <a:ext cx="2572435" cy="1755648"/>
          </a:xfrm>
          <a:prstGeom prst="roundRect">
            <a:avLst>
              <a:gd name="adj" fmla="val 9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211" y="44256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&lt;/&gt;  课程代码仓库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211" y="4901184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7C7CC"/>
                </a:solidFill>
                <a:latin typeface="PingFang SC"/>
              </a:rPr>
              <a:t>全部课件 · 作业 · 示例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211" y="5303520"/>
            <a:ext cx="22066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5AC8FA"/>
                </a:solidFill>
                <a:latin typeface="PingFang SC"/>
              </a:rPr>
              <a:t>github.com/wenfenggithub/</a:t>
            </a:r>
            <a:r>
              <a:rPr sz="1050" b="1">
                <a:solidFill>
                  <a:srgbClr val="5AC8FA"/>
                </a:solidFill>
                <a:latin typeface="PingFang SC"/>
              </a:rPr>
              <a:t>ClaudeCodeClass</a:t>
            </a:r>
          </a:p>
        </p:txBody>
      </p:sp>
      <p:sp>
        <p:nvSpPr>
          <p:cNvPr id="45" name="Rectangle 44">
            <a:hlinkClick r:id="rId2"/>
          </p:cNvPr>
          <p:cNvSpPr/>
          <p:nvPr/>
        </p:nvSpPr>
        <p:spPr>
          <a:xfrm>
            <a:off x="9052331" y="4224528"/>
            <a:ext cx="2572435" cy="17556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4008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1D1F"/>
                </a:solidFill>
                <a:latin typeface="PingFang SC"/>
              </a:rPr>
              <a:t>7 次课 · 每次 2 小时</a:t>
            </a:r>
            <a:r>
              <a:rPr sz="1100" b="0">
                <a:solidFill>
                  <a:srgbClr val="6E6E73"/>
                </a:solidFill>
                <a:latin typeface="PingFang SC"/>
              </a:rPr>
              <a:t>      主线：从想法到上线的完整闭环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