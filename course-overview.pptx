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wenfenggithub/ClaudeCodeClas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E6E73"/>
                </a:solidFill>
                <a:latin typeface="PingFang SC"/>
              </a:rPr>
              <a:t>CLAUDE CODE · 零基础 AI 编程课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D1D1F"/>
                </a:solidFill>
                <a:latin typeface="PingFang SC"/>
              </a:rPr>
              <a:t>AI 分享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8988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E6E73"/>
                </a:solidFill>
                <a:latin typeface="PingFang SC"/>
              </a:rPr>
              <a:t>面向零基础成年人的 AI 编程实战课 —— 你需要的不是写代码，而是学会指挥 AI。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212848"/>
            <a:ext cx="2572435" cy="17556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4944" y="2322576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16352"/>
            <a:ext cx="22066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PingFang SC"/>
              </a:rPr>
              <a:t>"哇"时刻 + 环境搭建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255263"/>
            <a:ext cx="22066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73"/>
                </a:solidFill>
                <a:latin typeface="PingFang SC"/>
              </a:rPr>
              <a:t>见证 AI 把想法变网页，装好开发环境。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666744"/>
            <a:ext cx="220667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3B30"/>
                </a:solidFill>
                <a:latin typeface="PingFang SC"/>
              </a:rPr>
              <a:t>点燃 · 起步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5395" y="2212848"/>
            <a:ext cx="2572435" cy="17556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23411" y="2322576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8275" y="2816352"/>
            <a:ext cx="22066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PingFang SC"/>
              </a:rPr>
              <a:t>AI 思维模型 + 初次动手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8275" y="3255263"/>
            <a:ext cx="22066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73"/>
                </a:solidFill>
                <a:latin typeface="PingFang SC"/>
              </a:rPr>
              <a:t>任务书 → 生成 → 评估 → 优化的核心循环。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8275" y="3666744"/>
            <a:ext cx="220667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9500"/>
                </a:solidFill>
                <a:latin typeface="PingFang SC"/>
              </a:rPr>
              <a:t>核心循环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3863" y="2212848"/>
            <a:ext cx="2572435" cy="17556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51879" y="2322576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28A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816352"/>
            <a:ext cx="22066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PingFang SC"/>
              </a:rPr>
              <a:t>Harness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6743" y="3255263"/>
            <a:ext cx="22066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73"/>
                </a:solidFill>
                <a:latin typeface="PingFang SC"/>
              </a:rPr>
              <a:t>给 AI 装"缰绳"：用引导与反馈保稳定。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6743" y="3666744"/>
            <a:ext cx="220667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8A745"/>
                </a:solidFill>
                <a:latin typeface="PingFang SC"/>
              </a:rPr>
              <a:t>引导 · 反馈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331" y="2212848"/>
            <a:ext cx="2572435" cy="17556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347" y="2322576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211" y="2816352"/>
            <a:ext cx="22066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PingFang SC"/>
              </a:rPr>
              <a:t>客户端、服务器与联网应用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211" y="3255263"/>
            <a:ext cx="22066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73"/>
                </a:solidFill>
                <a:latin typeface="PingFang SC"/>
              </a:rPr>
              <a:t>从纯 HTML 走向真正的联网 Web 应用。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211" y="3666744"/>
            <a:ext cx="220667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071E3"/>
                </a:solidFill>
                <a:latin typeface="PingFang SC"/>
              </a:rPr>
              <a:t>Web 应用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224528"/>
            <a:ext cx="2572435" cy="17556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94944" y="4334256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AF5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828032"/>
            <a:ext cx="22066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PingFang SC"/>
              </a:rPr>
              <a:t>Claude Code Skill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5266943"/>
            <a:ext cx="22066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73"/>
                </a:solidFill>
                <a:latin typeface="PingFang SC"/>
              </a:rPr>
              <a:t>为 AI 打造可复用的"技能"，做得更专业。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678424"/>
            <a:ext cx="220667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52DE"/>
                </a:solidFill>
                <a:latin typeface="PingFang SC"/>
              </a:rPr>
              <a:t>进阶能力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95395" y="4224528"/>
            <a:ext cx="2572435" cy="17556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523411" y="4334256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5AC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78275" y="4828032"/>
            <a:ext cx="22066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PingFang SC"/>
              </a:rPr>
              <a:t>AI 数据分析与可视化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78275" y="5266943"/>
            <a:ext cx="22066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73"/>
                </a:solidFill>
                <a:latin typeface="PingFang SC"/>
              </a:rPr>
              <a:t>从数据里找答案，把答案用图表讲清楚。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8275" y="5678424"/>
            <a:ext cx="220667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5AC8FA"/>
                </a:solidFill>
                <a:latin typeface="PingFang SC"/>
              </a:rPr>
              <a:t>数据 · 图表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863" y="4224528"/>
            <a:ext cx="2572435" cy="17556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51879" y="4334256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SC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6743" y="4828032"/>
            <a:ext cx="22066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PingFang SC"/>
              </a:rPr>
              <a:t>迁移到 Supabase 数据库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6743" y="5266943"/>
            <a:ext cx="22066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73"/>
                </a:solidFill>
                <a:latin typeface="PingFang SC"/>
              </a:rPr>
              <a:t>从 JSON 文件升级到云数据库，可上线。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6743" y="5678424"/>
            <a:ext cx="220667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2D55"/>
                </a:solidFill>
                <a:latin typeface="PingFang SC"/>
              </a:rPr>
              <a:t>数据库 · 上线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2331" y="4224528"/>
            <a:ext cx="2572435" cy="1755648"/>
          </a:xfrm>
          <a:prstGeom prst="roundRect">
            <a:avLst>
              <a:gd name="adj" fmla="val 9000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35211" y="4425696"/>
            <a:ext cx="22066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&lt;/&gt;  课程代码仓库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211" y="4901184"/>
            <a:ext cx="22066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7C7CC"/>
                </a:solidFill>
                <a:latin typeface="PingFang SC"/>
              </a:rPr>
              <a:t>全部课件 · 作业 · 示例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211" y="5303520"/>
            <a:ext cx="220667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5AC8FA"/>
                </a:solidFill>
                <a:latin typeface="PingFang SC"/>
              </a:rPr>
              <a:t>github.com/wenfenggithub/</a:t>
            </a:r>
            <a:r>
              <a:rPr sz="1050" b="1">
                <a:solidFill>
                  <a:srgbClr val="5AC8FA"/>
                </a:solidFill>
                <a:latin typeface="PingFang SC"/>
              </a:rPr>
              <a:t>ClaudeCodeClass</a:t>
            </a:r>
          </a:p>
        </p:txBody>
      </p:sp>
      <p:sp>
        <p:nvSpPr>
          <p:cNvPr id="45" name="Rectangle 44">
            <a:hlinkClick r:id="rId2"/>
          </p:cNvPr>
          <p:cNvSpPr/>
          <p:nvPr/>
        </p:nvSpPr>
        <p:spPr>
          <a:xfrm>
            <a:off x="9052331" y="4224528"/>
            <a:ext cx="2572435" cy="1755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64008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1D1F"/>
                </a:solidFill>
                <a:latin typeface="PingFang SC"/>
              </a:rPr>
              <a:t>7 次课 · 每次 2 小时</a:t>
            </a:r>
            <a:r>
              <a:rPr sz="1100" b="0">
                <a:solidFill>
                  <a:srgbClr val="6E6E73"/>
                </a:solidFill>
                <a:latin typeface="PingFang SC"/>
              </a:rPr>
              <a:t>      主线：从想法到上线的完整闭环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